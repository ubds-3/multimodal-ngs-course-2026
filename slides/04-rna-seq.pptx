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390" r:id="rId2"/>
    <p:sldId id="314" r:id="rId3"/>
    <p:sldId id="341" r:id="rId4"/>
    <p:sldId id="321" r:id="rId5"/>
    <p:sldId id="320" r:id="rId6"/>
    <p:sldId id="342" r:id="rId7"/>
    <p:sldId id="327" r:id="rId8"/>
    <p:sldId id="343" r:id="rId9"/>
    <p:sldId id="329" r:id="rId10"/>
    <p:sldId id="391" r:id="rId11"/>
    <p:sldId id="392" r:id="rId12"/>
    <p:sldId id="348" r:id="rId13"/>
    <p:sldId id="351" r:id="rId14"/>
    <p:sldId id="384" r:id="rId15"/>
    <p:sldId id="385" r:id="rId16"/>
    <p:sldId id="389" r:id="rId17"/>
    <p:sldId id="360" r:id="rId18"/>
    <p:sldId id="356" r:id="rId19"/>
    <p:sldId id="352" r:id="rId20"/>
    <p:sldId id="309" r:id="rId21"/>
    <p:sldId id="358" r:id="rId22"/>
  </p:sldIdLst>
  <p:sldSz cx="12192000" cy="6858000"/>
  <p:notesSz cx="6858000" cy="9144000"/>
  <p:defaultTextStyle>
    <a:defPPr>
      <a:defRPr lang="en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24"/>
    <p:restoredTop sz="94658"/>
  </p:normalViewPr>
  <p:slideViewPr>
    <p:cSldViewPr snapToGrid="0">
      <p:cViewPr>
        <p:scale>
          <a:sx n="99" d="100"/>
          <a:sy n="99" d="100"/>
        </p:scale>
        <p:origin x="1120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4EF8D7-E618-E141-ABBB-9977E730D5A4}" type="datetimeFigureOut">
              <a:rPr lang="en-IT" smtClean="0"/>
              <a:t>13/07/26</a:t>
            </a:fld>
            <a:endParaRPr lang="en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1E8481-DB90-E54A-87A6-FE547BB70782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4215148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062642-6185-7F4E-9F5A-1850AF8A230E}" type="slidenum">
              <a:rPr lang="en-IT" smtClean="0"/>
              <a:t>5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582365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</a:t>
            </a:r>
            <a:r>
              <a:rPr lang="en-GB" dirty="0" err="1"/>
              <a:t>www.thermofisher.com</a:t>
            </a:r>
            <a:r>
              <a:rPr lang="en-GB" dirty="0"/>
              <a:t>/it/</a:t>
            </a:r>
            <a:r>
              <a:rPr lang="en-GB" dirty="0" err="1"/>
              <a:t>en</a:t>
            </a:r>
            <a:r>
              <a:rPr lang="en-GB" dirty="0"/>
              <a:t>/home/life-science/cloning/cloning-learning-</a:t>
            </a:r>
            <a:r>
              <a:rPr lang="en-GB" dirty="0" err="1"/>
              <a:t>center</a:t>
            </a:r>
            <a:r>
              <a:rPr lang="en-GB" dirty="0"/>
              <a:t>/</a:t>
            </a:r>
            <a:r>
              <a:rPr lang="en-GB" dirty="0" err="1"/>
              <a:t>invitrogen</a:t>
            </a:r>
            <a:r>
              <a:rPr lang="en-GB" dirty="0"/>
              <a:t>-school-of-molecular-biology/rt-education/reverse-transcription-</a:t>
            </a:r>
            <a:r>
              <a:rPr lang="en-GB" dirty="0" err="1"/>
              <a:t>basics.html</a:t>
            </a:r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062642-6185-7F4E-9F5A-1850AF8A230E}" type="slidenum">
              <a:rPr lang="en-IT" smtClean="0"/>
              <a:t>7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6098039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</a:t>
            </a:r>
            <a:r>
              <a:rPr lang="en-GB" dirty="0" err="1"/>
              <a:t>www.nature.com</a:t>
            </a:r>
            <a:r>
              <a:rPr lang="en-GB" dirty="0"/>
              <a:t>/articles/srep09570</a:t>
            </a:r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062642-6185-7F4E-9F5A-1850AF8A230E}" type="slidenum">
              <a:rPr lang="en-IT" smtClean="0"/>
              <a:t>9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8083923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</a:t>
            </a:r>
            <a:r>
              <a:rPr lang="en-GB" dirty="0" err="1"/>
              <a:t>www.celemics.com</a:t>
            </a:r>
            <a:r>
              <a:rPr lang="en-GB" dirty="0"/>
              <a:t>/resources/blogs/efficient-dna-purification-with-celemag-clean-up-beads-for-next-gen-sequencing/</a:t>
            </a:r>
          </a:p>
          <a:p>
            <a:r>
              <a:rPr lang="en-GB" dirty="0"/>
              <a:t>https://</a:t>
            </a:r>
            <a:r>
              <a:rPr lang="en-GB" dirty="0" err="1"/>
              <a:t>www.beckman.it</a:t>
            </a:r>
            <a:r>
              <a:rPr lang="en-GB" dirty="0"/>
              <a:t>/reagents/genomic/cleanup-and-size-selection/size-selection/</a:t>
            </a:r>
            <a:r>
              <a:rPr lang="en-GB" dirty="0" err="1"/>
              <a:t>spriselect</a:t>
            </a:r>
            <a:r>
              <a:rPr lang="en-GB" dirty="0"/>
              <a:t>-protocol</a:t>
            </a:r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062642-6185-7F4E-9F5A-1850AF8A230E}" type="slidenum">
              <a:rPr lang="en-IT" smtClean="0"/>
              <a:t>13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41764408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9E658-F608-5D24-7431-95CB3A9793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11ED5B-4613-8093-50CD-24638F5DA6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7D93C0-F1E7-E117-3A18-DBB308C31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35620-F432-7740-8BE5-B89EEEE26549}" type="datetimeFigureOut">
              <a:rPr lang="en-IT" smtClean="0"/>
              <a:t>13/07/26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7A8E99-3964-82B4-2AD0-FCEC4AB17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5CC541-8F80-9817-0D38-0BA0BC90A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5B7E1-21DA-8C42-9EE2-7932C4714623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914585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4DF01-0C8F-722D-A95D-2C8CB1E55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AB06A-83CA-051E-AF15-6AB187D01E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AE543-8686-97FE-9457-7695E713B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35620-F432-7740-8BE5-B89EEEE26549}" type="datetimeFigureOut">
              <a:rPr lang="en-IT" smtClean="0"/>
              <a:t>13/07/26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5BECFF-BA43-B82A-FC9C-825CF10C4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0D3A0-3062-C77D-2E7B-EA0068B9D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5B7E1-21DA-8C42-9EE2-7932C4714623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781198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004E3-39D4-3AFC-8677-B5F2DA6DA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0169E2-7446-292D-4179-78ABEA69C2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02EE35-91BA-A126-9642-0A5115BA5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35620-F432-7740-8BE5-B89EEEE26549}" type="datetimeFigureOut">
              <a:rPr lang="en-IT" smtClean="0"/>
              <a:t>13/07/26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3E70A2-6BC8-AA6E-5AA2-C8925A543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1525A5-64AF-9FF8-3368-1DF7AA925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5B7E1-21DA-8C42-9EE2-7932C4714623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009665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BFE5E-231F-1837-0A36-C6E2967D4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40916-01B7-E52B-2F0B-F0CA98352C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0496D6-AC89-65D0-50DE-5E4DEBDAFB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3D3C50-4E06-FE0B-374E-A0A2C37F8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35620-F432-7740-8BE5-B89EEEE26549}" type="datetimeFigureOut">
              <a:rPr lang="en-IT" smtClean="0"/>
              <a:t>13/07/26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989079-844C-7078-1313-008DAC79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CA664E-34BC-4AAD-1303-DF10BBE4F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5B7E1-21DA-8C42-9EE2-7932C4714623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4019437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7D4DD-E4AF-3FA8-2F47-85CA1C98A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80A812-0FB9-BF14-2787-82AB97BBDB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F8E49F-DFC0-DA8D-5104-982ABE2A96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EA4F0B-8D9E-CCBB-F068-1CF3AF96D7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A955A8-D3BB-9AFD-115E-00A38EEAD8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515F3E-484E-F42C-BFD1-265B8A2FB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35620-F432-7740-8BE5-B89EEEE26549}" type="datetimeFigureOut">
              <a:rPr lang="en-IT" smtClean="0"/>
              <a:t>13/07/26</a:t>
            </a:fld>
            <a:endParaRPr lang="en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83745D-8020-27F1-D1A7-4FF9EE483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9E1643-6301-ACEA-B8F1-E1D2749D2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5B7E1-21DA-8C42-9EE2-7932C4714623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26663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C2DDF-2415-4F6B-9007-6F2C45CCE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B7F874-1404-BCE5-A03C-A4AA2FD4C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35620-F432-7740-8BE5-B89EEEE26549}" type="datetimeFigureOut">
              <a:rPr lang="en-IT" smtClean="0"/>
              <a:t>13/07/26</a:t>
            </a:fld>
            <a:endParaRPr lang="en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A801BC-731D-E2D7-B16F-A30E5982F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7AF534-78BB-0851-D5AC-D099E63F2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5B7E1-21DA-8C42-9EE2-7932C4714623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533287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234F4F-58A8-2B03-3356-6CC4A6677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35620-F432-7740-8BE5-B89EEEE26549}" type="datetimeFigureOut">
              <a:rPr lang="en-IT" smtClean="0"/>
              <a:t>13/07/26</a:t>
            </a:fld>
            <a:endParaRPr lang="en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E76757-6675-E5A0-A8A4-CE4969237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AA46D8-0C11-7F95-C89E-F7EB9C109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5B7E1-21DA-8C42-9EE2-7932C4714623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3483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C717A-AF26-6DCB-6C61-2EA628136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45C36-FE4D-834B-9C40-D66B6D62E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54A6F0-29BE-6465-D545-23DCAC0387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777A4C-3506-5768-E50C-846DB0406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35620-F432-7740-8BE5-B89EEEE26549}" type="datetimeFigureOut">
              <a:rPr lang="en-IT" smtClean="0"/>
              <a:t>13/07/26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8C77C2-120E-2F4F-D26A-B8361734D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7E8892-220A-7C45-6849-210089E63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5B7E1-21DA-8C42-9EE2-7932C4714623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671061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3A05E-CDF8-AC4F-A450-804E1095B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69C903-3184-F5E5-BFB1-BA4F60EEDE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153770-5D72-7208-C44A-B499D77F61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929DAD-A2AA-C213-23CD-FC61BF0A1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35620-F432-7740-8BE5-B89EEEE26549}" type="datetimeFigureOut">
              <a:rPr lang="en-IT" smtClean="0"/>
              <a:t>13/07/26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C97087-1CBA-2BF8-99CA-D287B7140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F31645-466A-3A8E-326C-2E12C9C05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5B7E1-21DA-8C42-9EE2-7932C4714623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473348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47310-30B0-94AD-6A6D-729A2A55A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22AC9D-4422-094B-11B5-47AC6ACA30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15A32A-A058-1FC7-37B3-5CC334715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35620-F432-7740-8BE5-B89EEEE26549}" type="datetimeFigureOut">
              <a:rPr lang="en-IT" smtClean="0"/>
              <a:t>13/07/26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F2C13C-C01D-DEB7-4873-EB80222C3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F8DB11-70E8-31EE-3F5E-0F8E68214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5B7E1-21DA-8C42-9EE2-7932C4714623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402312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61DE4D-03C0-BBCB-A74F-28339E0EA0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BB6A1E-7DE7-B0F1-DD4E-FA6780745F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CF253-F632-0699-9B01-F54F929FF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35620-F432-7740-8BE5-B89EEEE26549}" type="datetimeFigureOut">
              <a:rPr lang="en-IT" smtClean="0"/>
              <a:t>13/07/26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A8CADC-263E-C3B7-2FFC-4D8C1B45F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A461BE-2ADB-43F9-1D04-FCD405900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5B7E1-21DA-8C42-9EE2-7932C4714623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4269294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14C9FD-4C54-C98F-8740-7BB23F9F8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A4E627-9F84-714A-454C-2F67615C3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C444F4-01C3-E10F-4B42-19FDA16433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335620-F432-7740-8BE5-B89EEEE26549}" type="datetimeFigureOut">
              <a:rPr lang="en-IT" smtClean="0"/>
              <a:t>13/07/26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22003E-AC55-872F-736A-24EDF61A31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8DFE80-4539-10D3-AE69-3E6BABF750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05B7E1-21DA-8C42-9EE2-7932C4714623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4123047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sv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67F39-1B9E-C471-B74F-3C30536312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805180"/>
            <a:ext cx="9144000" cy="2387600"/>
          </a:xfrm>
        </p:spPr>
        <p:txBody>
          <a:bodyPr>
            <a:normAutofit/>
          </a:bodyPr>
          <a:lstStyle/>
          <a:p>
            <a:r>
              <a:rPr lang="en-GB" sz="3200" dirty="0"/>
              <a:t>Multimodal NGS analysis of gene expression and chromatin state in the olfactory epithelium</a:t>
            </a:r>
            <a:endParaRPr lang="en-IT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1FC96B-9C44-95CA-7B01-FA9E269763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202238"/>
            <a:ext cx="9144000" cy="1655762"/>
          </a:xfrm>
        </p:spPr>
        <p:txBody>
          <a:bodyPr>
            <a:normAutofit/>
          </a:bodyPr>
          <a:lstStyle/>
          <a:p>
            <a:r>
              <a:rPr lang="en-IT" dirty="0">
                <a:latin typeface="+mj-lt"/>
              </a:rPr>
              <a:t>UBDS^3 2026 | Week 2, Day 2</a:t>
            </a:r>
          </a:p>
          <a:p>
            <a:r>
              <a:rPr lang="en-IT" dirty="0">
                <a:latin typeface="+mj-lt"/>
              </a:rPr>
              <a:t>Tutor: Lisa Korneeva        TA: Oleksandr Lykhenko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9DC9097-F3BF-2F01-3A15-78338A81E9F1}"/>
              </a:ext>
            </a:extLst>
          </p:cNvPr>
          <p:cNvSpPr txBox="1">
            <a:spLocks/>
          </p:cNvSpPr>
          <p:nvPr/>
        </p:nvSpPr>
        <p:spPr>
          <a:xfrm>
            <a:off x="1524000" y="2721934"/>
            <a:ext cx="9144000" cy="120236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T" sz="4000" b="1" dirty="0"/>
              <a:t>RNA-seq workflow</a:t>
            </a:r>
          </a:p>
        </p:txBody>
      </p:sp>
    </p:spTree>
    <p:extLst>
      <p:ext uri="{BB962C8B-B14F-4D97-AF65-F5344CB8AC3E}">
        <p14:creationId xmlns:p14="http://schemas.microsoft.com/office/powerpoint/2010/main" val="4073530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A599C-CC8F-5A4A-291A-41EA899FF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2AD12-5423-FD85-BD4B-B3F331F28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RNA-</a:t>
            </a:r>
            <a:r>
              <a:rPr lang="en-GB" b="1" dirty="0" err="1"/>
              <a:t>Seq</a:t>
            </a:r>
            <a:r>
              <a:rPr lang="en-GB" b="1" dirty="0"/>
              <a:t> workflow</a:t>
            </a:r>
            <a:endParaRPr lang="en-IT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360CCD9-B27E-C88C-7A67-BEBA73AE1C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7422" y="1529883"/>
            <a:ext cx="9697156" cy="5053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16914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EBNext® Single Cell/Low Input RNA Library Prep Kit for Illumina® | NEB">
            <a:extLst>
              <a:ext uri="{FF2B5EF4-FFF2-40B4-BE49-F238E27FC236}">
                <a16:creationId xmlns:a16="http://schemas.microsoft.com/office/drawing/2014/main" id="{2076232C-ABD1-9261-F7EB-7DDD36EEE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1582" y="19302"/>
            <a:ext cx="5968836" cy="681939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3F675F0-77EA-368F-956F-55FA0309BE13}"/>
              </a:ext>
            </a:extLst>
          </p:cNvPr>
          <p:cNvSpPr txBox="1"/>
          <p:nvPr/>
        </p:nvSpPr>
        <p:spPr>
          <a:xfrm>
            <a:off x="347117" y="5638369"/>
            <a:ext cx="27644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dirty="0"/>
              <a:t>NEBNext</a:t>
            </a:r>
            <a:r>
              <a:rPr lang="en-IT" baseline="30000" dirty="0"/>
              <a:t>®</a:t>
            </a:r>
            <a:r>
              <a:rPr lang="en-IT" dirty="0"/>
              <a:t> Single Cell/Low Input RNA Library Prep Kit for Illumina</a:t>
            </a:r>
            <a:r>
              <a:rPr lang="en-IT" baseline="30000" dirty="0"/>
              <a:t>®</a:t>
            </a:r>
            <a:endParaRPr lang="en-IT" dirty="0"/>
          </a:p>
          <a:p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10270177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AA5EE-F308-31CA-62BC-38E0A0436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IT" dirty="0"/>
              <a:t>Which </a:t>
            </a:r>
            <a:r>
              <a:rPr lang="en-IT" b="1" dirty="0"/>
              <a:t>RNA </a:t>
            </a:r>
            <a:r>
              <a:rPr lang="en-IT" dirty="0"/>
              <a:t>do we need for conventional </a:t>
            </a:r>
            <a:r>
              <a:rPr lang="en-IT" b="1" dirty="0"/>
              <a:t>RNA-Seq</a:t>
            </a:r>
            <a:r>
              <a:rPr lang="en-IT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506249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3B5B4-6EB5-97E6-5214-393D49630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b="1" dirty="0"/>
              <a:t>1-5% of total RNA</a:t>
            </a:r>
          </a:p>
        </p:txBody>
      </p:sp>
      <p:pic>
        <p:nvPicPr>
          <p:cNvPr id="28674" name="Picture 2" descr="mRNA, tRNA and rRNA | Structure and Function | What are different types of  RNA? | Biochemistry">
            <a:extLst>
              <a:ext uri="{FF2B5EF4-FFF2-40B4-BE49-F238E27FC236}">
                <a16:creationId xmlns:a16="http://schemas.microsoft.com/office/drawing/2014/main" id="{B96A2A0E-5063-B11A-C495-8099A93E04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52" r="31111" b="50000"/>
          <a:stretch>
            <a:fillRect/>
          </a:stretch>
        </p:blipFill>
        <p:spPr bwMode="auto">
          <a:xfrm>
            <a:off x="198850" y="2208477"/>
            <a:ext cx="11794300" cy="2441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63835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0B81326-9EDC-BE49-3C74-944FF7759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IT" b="1" dirty="0"/>
              <a:t>Step 1: </a:t>
            </a:r>
            <a:r>
              <a:rPr lang="en-IT" dirty="0"/>
              <a:t>RNA capture and cDNA synthesis</a:t>
            </a:r>
            <a:endParaRPr lang="en-IT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77B052-2A06-4C1A-A430-2C052BA89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9123" y="1381703"/>
            <a:ext cx="5293754" cy="5476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0149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61284-C260-56EC-52D0-55DF443B6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282" y="427037"/>
            <a:ext cx="10515600" cy="1325563"/>
          </a:xfrm>
        </p:spPr>
        <p:txBody>
          <a:bodyPr/>
          <a:lstStyle/>
          <a:p>
            <a:r>
              <a:rPr lang="en-IT" b="1" dirty="0"/>
              <a:t>Reverse Transcription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D8A29-C43B-C10D-57FD-7F5F93F4F9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09997" cy="4351338"/>
          </a:xfrm>
        </p:spPr>
        <p:txBody>
          <a:bodyPr/>
          <a:lstStyle/>
          <a:p>
            <a:r>
              <a:rPr lang="en-IT" dirty="0"/>
              <a:t>Template RNA</a:t>
            </a:r>
          </a:p>
          <a:p>
            <a:r>
              <a:rPr lang="en-IT" dirty="0"/>
              <a:t>Reverse transcriptase</a:t>
            </a:r>
          </a:p>
          <a:p>
            <a:r>
              <a:rPr lang="en-IT" dirty="0"/>
              <a:t>Primers:</a:t>
            </a:r>
          </a:p>
          <a:p>
            <a:pPr lvl="1"/>
            <a:r>
              <a:rPr lang="en-IT" dirty="0"/>
              <a:t>With random hexamers (e.g. ATGCGT)</a:t>
            </a:r>
          </a:p>
          <a:p>
            <a:pPr lvl="1"/>
            <a:r>
              <a:rPr lang="en-IT" dirty="0"/>
              <a:t>With oligo-dT primers</a:t>
            </a:r>
          </a:p>
        </p:txBody>
      </p:sp>
      <p:pic>
        <p:nvPicPr>
          <p:cNvPr id="6148" name="Picture 4" descr="Reverse Transcription Basics | Thermo Fisher Scientific - US">
            <a:extLst>
              <a:ext uri="{FF2B5EF4-FFF2-40B4-BE49-F238E27FC236}">
                <a16:creationId xmlns:a16="http://schemas.microsoft.com/office/drawing/2014/main" id="{70E3898E-1D57-7F7A-9151-F6E26F53D6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82" t="21456" r="30882" b="36500"/>
          <a:stretch>
            <a:fillRect/>
          </a:stretch>
        </p:blipFill>
        <p:spPr bwMode="auto">
          <a:xfrm>
            <a:off x="5415246" y="1825625"/>
            <a:ext cx="6252994" cy="3710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632002E-C100-C436-EEE3-16C9D18FFA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9" y="5172635"/>
            <a:ext cx="1665301" cy="1685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6165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87EB4-B627-8DE7-2C53-810FDAB41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b="1" dirty="0"/>
              <a:t>Step 2: </a:t>
            </a:r>
            <a:r>
              <a:rPr lang="en-IT" dirty="0"/>
              <a:t>Template switch and PCR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2BCBC2-0872-2F21-ED94-D06F6E1B9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726" y="1368443"/>
            <a:ext cx="4483274" cy="54895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9D231A3-9A3E-0542-8A45-CCC6601C46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0526" y="4197863"/>
            <a:ext cx="5055754" cy="2598313"/>
          </a:xfrm>
          <a:prstGeom prst="rect">
            <a:avLst/>
          </a:prstGeom>
        </p:spPr>
      </p:pic>
      <p:sp>
        <p:nvSpPr>
          <p:cNvPr id="7" name="Right Arrow 6">
            <a:extLst>
              <a:ext uri="{FF2B5EF4-FFF2-40B4-BE49-F238E27FC236}">
                <a16:creationId xmlns:a16="http://schemas.microsoft.com/office/drawing/2014/main" id="{62C5ED7A-A121-DB26-A72E-7A7F9BEB1122}"/>
              </a:ext>
            </a:extLst>
          </p:cNvPr>
          <p:cNvSpPr/>
          <p:nvPr/>
        </p:nvSpPr>
        <p:spPr>
          <a:xfrm>
            <a:off x="6096000" y="5348912"/>
            <a:ext cx="626772" cy="29621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2791486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5A403-F7FE-5B1D-CD9C-DAE1D7AF0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DC4DA-933A-438F-0D0F-79C37EEEF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b="1" dirty="0">
                <a:solidFill>
                  <a:schemeClr val="accent2"/>
                </a:solidFill>
              </a:rPr>
              <a:t>Fragmentation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FA1D2-820C-54D5-0F59-05DCC06B85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97885" cy="4351338"/>
          </a:xfrm>
        </p:spPr>
        <p:txBody>
          <a:bodyPr/>
          <a:lstStyle/>
          <a:p>
            <a:r>
              <a:rPr lang="en-IT" dirty="0"/>
              <a:t>Chemical (heat, Mg</a:t>
            </a:r>
            <a:r>
              <a:rPr lang="en-IT" baseline="30000" dirty="0"/>
              <a:t>2+ </a:t>
            </a:r>
            <a:r>
              <a:rPr lang="en-IT" dirty="0"/>
              <a:t>/ Zn</a:t>
            </a:r>
            <a:r>
              <a:rPr lang="en-IT" baseline="30000" dirty="0"/>
              <a:t>2+</a:t>
            </a:r>
            <a:r>
              <a:rPr lang="en-IT" dirty="0"/>
              <a:t>)</a:t>
            </a:r>
          </a:p>
          <a:p>
            <a:r>
              <a:rPr lang="en-IT" dirty="0"/>
              <a:t>Enzymatic</a:t>
            </a:r>
          </a:p>
          <a:p>
            <a:r>
              <a:rPr lang="en-IT" dirty="0"/>
              <a:t>Or you fragment after RNA was reverse transcribed into DNA</a:t>
            </a:r>
          </a:p>
          <a:p>
            <a:endParaRPr lang="en-IT" dirty="0"/>
          </a:p>
        </p:txBody>
      </p:sp>
      <p:pic>
        <p:nvPicPr>
          <p:cNvPr id="5122" name="Picture 2" descr="A cost-effective RNA sequencing protocol for large-scale gene expression  studies | Scientific Reports">
            <a:extLst>
              <a:ext uri="{FF2B5EF4-FFF2-40B4-BE49-F238E27FC236}">
                <a16:creationId xmlns:a16="http://schemas.microsoft.com/office/drawing/2014/main" id="{3F3444D6-44DD-BBA7-A1F7-8DF864FE2BD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366" b="48310"/>
          <a:stretch>
            <a:fillRect/>
          </a:stretch>
        </p:blipFill>
        <p:spPr bwMode="auto">
          <a:xfrm>
            <a:off x="6575121" y="714041"/>
            <a:ext cx="4997885" cy="5462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55760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39581-A345-5E08-C7DF-BD076EF12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b="1" dirty="0"/>
              <a:t>Step 3: </a:t>
            </a:r>
            <a:r>
              <a:rPr lang="en-IT" dirty="0"/>
              <a:t>End repair, A-tailing, Adapter ligation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715723-C25B-E151-FA5D-E336AB85AC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T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C02BCE-70EE-8CA8-645B-4FECA911A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991" y="2052638"/>
            <a:ext cx="10362017" cy="3704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5114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CD04A-5773-7DC0-5CF5-96257992F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b="1" dirty="0"/>
              <a:t>Step 4: </a:t>
            </a:r>
            <a:r>
              <a:rPr lang="en-IT" dirty="0"/>
              <a:t>Stem loop opening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55C46E-9E73-0406-4D3B-6AD0AA284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831" y="2318555"/>
            <a:ext cx="10246338" cy="3335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2524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4C0A3-B565-C50B-524B-5C6AFBBC9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C7C40-9BF6-09E3-F5F7-38A8CF0A5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420932" cy="1325563"/>
          </a:xfrm>
        </p:spPr>
        <p:txBody>
          <a:bodyPr>
            <a:normAutofit fontScale="90000"/>
          </a:bodyPr>
          <a:lstStyle/>
          <a:p>
            <a:r>
              <a:rPr lang="en-IT" b="1" dirty="0"/>
              <a:t>Step 5: </a:t>
            </a:r>
            <a:r>
              <a:rPr lang="en-IT" dirty="0"/>
              <a:t>PCR enrichment and clean-up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1030F7-D0AE-FF42-4194-769DB17A14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5850979" cy="6803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5573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B9C1D-CEF6-AD27-15C4-E6301C605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Clean-up/size selection with SPRI beads</a:t>
            </a:r>
          </a:p>
        </p:txBody>
      </p:sp>
      <p:pic>
        <p:nvPicPr>
          <p:cNvPr id="4" name="Picture 6" descr="Efficient DNA Purification with CeleMag™ Clean-up Beads for Next-Gen  Sequencing | Celemics, Inc.">
            <a:extLst>
              <a:ext uri="{FF2B5EF4-FFF2-40B4-BE49-F238E27FC236}">
                <a16:creationId xmlns:a16="http://schemas.microsoft.com/office/drawing/2014/main" id="{61E34F64-B218-FFF3-185C-088E985803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674" y="1380495"/>
            <a:ext cx="6476652" cy="3042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8" descr="Next-Generation Sequencing Tips n' Tricks - Part 2 - Diagnostech South  Africa">
            <a:extLst>
              <a:ext uri="{FF2B5EF4-FFF2-40B4-BE49-F238E27FC236}">
                <a16:creationId xmlns:a16="http://schemas.microsoft.com/office/drawing/2014/main" id="{40A98663-AC49-9608-85F5-A4872599F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8774" y="4372597"/>
            <a:ext cx="4834451" cy="2485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7C42076-F6EA-3AD3-590D-C0BE8DB2F6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822" y="2783004"/>
            <a:ext cx="1650230" cy="16401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CF1DC79-FB08-AA73-A622-A257F3AC92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9815" y="5143710"/>
            <a:ext cx="1718263" cy="1687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5399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1D55A-ED29-1236-EF0C-6941F878D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684C8-8948-CEF3-0620-35327CBE5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b="1" dirty="0"/>
              <a:t>Polymerase Chain Reaction (PCR)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A93A5-9D05-870D-10AC-B29094393A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T" dirty="0"/>
          </a:p>
        </p:txBody>
      </p:sp>
      <p:pic>
        <p:nvPicPr>
          <p:cNvPr id="4098" name="Picture 2" descr="Polymerase Chain Reaction (PCR)">
            <a:extLst>
              <a:ext uri="{FF2B5EF4-FFF2-40B4-BE49-F238E27FC236}">
                <a16:creationId xmlns:a16="http://schemas.microsoft.com/office/drawing/2014/main" id="{E18360A7-2218-0933-F00C-B247F9671E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0"/>
            <a:ext cx="1218723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27235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658DD-2470-0402-0002-CC2097C03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7182B-30CA-C209-23FA-1BD131E96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b="1" dirty="0"/>
              <a:t>Polymerase Chain Reaction (PCR)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728EA-958B-4CF1-E26A-D812B8F009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T" dirty="0"/>
              <a:t>Template </a:t>
            </a:r>
          </a:p>
          <a:p>
            <a:r>
              <a:rPr lang="en-IT" dirty="0"/>
              <a:t>Primers</a:t>
            </a:r>
          </a:p>
          <a:p>
            <a:r>
              <a:rPr lang="en-IT" dirty="0"/>
              <a:t>dNTPs</a:t>
            </a:r>
          </a:p>
          <a:p>
            <a:r>
              <a:rPr lang="en-IT" dirty="0"/>
              <a:t>PCR Buffer</a:t>
            </a:r>
          </a:p>
          <a:p>
            <a:r>
              <a:rPr lang="en-IT" dirty="0"/>
              <a:t>DNA Polymerase</a:t>
            </a:r>
          </a:p>
          <a:p>
            <a:endParaRPr lang="en-IT" dirty="0"/>
          </a:p>
        </p:txBody>
      </p:sp>
      <p:pic>
        <p:nvPicPr>
          <p:cNvPr id="4" name="Picture 2" descr="Polymerase Chain Reaction (PCR)">
            <a:extLst>
              <a:ext uri="{FF2B5EF4-FFF2-40B4-BE49-F238E27FC236}">
                <a16:creationId xmlns:a16="http://schemas.microsoft.com/office/drawing/2014/main" id="{F8AE3143-CC1E-DD31-17AD-42717115FC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0343" y="2766988"/>
            <a:ext cx="7270070" cy="4091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76661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7CE49-8AA5-BDB5-2AD2-6ECACF8B4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0124D-2D50-D698-69C5-FF24AD1E8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T"/>
          </a:p>
        </p:txBody>
      </p:sp>
      <p:pic>
        <p:nvPicPr>
          <p:cNvPr id="4" name="Picture 2" descr="Frequently Asked Questions: UMM Universitätsmedizin Mannheim">
            <a:extLst>
              <a:ext uri="{FF2B5EF4-FFF2-40B4-BE49-F238E27FC236}">
                <a16:creationId xmlns:a16="http://schemas.microsoft.com/office/drawing/2014/main" id="{A7D6E47E-941E-3CCA-68D3-74F618AD26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289"/>
          <a:stretch>
            <a:fillRect/>
          </a:stretch>
        </p:blipFill>
        <p:spPr bwMode="auto">
          <a:xfrm>
            <a:off x="484547" y="2096911"/>
            <a:ext cx="11222905" cy="2664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94709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DFC09-7FC2-38BD-BDDB-CE6A6CCFD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b="1" dirty="0"/>
              <a:t>There are a loooooot of kits and protocols</a:t>
            </a:r>
          </a:p>
        </p:txBody>
      </p:sp>
      <p:pic>
        <p:nvPicPr>
          <p:cNvPr id="18434" name="Picture 2" descr="Illumina Community Fund">
            <a:extLst>
              <a:ext uri="{FF2B5EF4-FFF2-40B4-BE49-F238E27FC236}">
                <a16:creationId xmlns:a16="http://schemas.microsoft.com/office/drawing/2014/main" id="{6EFA4419-17C1-27FD-BFE4-41B83604DC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853" y="877794"/>
            <a:ext cx="3525371" cy="2350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6" name="Picture 4" descr="Takara Holdings - Wikidata">
            <a:extLst>
              <a:ext uri="{FF2B5EF4-FFF2-40B4-BE49-F238E27FC236}">
                <a16:creationId xmlns:a16="http://schemas.microsoft.com/office/drawing/2014/main" id="{6DB441D7-6EC7-A082-808B-CEBA5E1C93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4485" y="1785684"/>
            <a:ext cx="3283030" cy="1185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BB1651-D6DE-0EE1-F573-56E7D59E27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9889" y="1388677"/>
            <a:ext cx="2934010" cy="1583001"/>
          </a:xfrm>
          <a:prstGeom prst="rect">
            <a:avLst/>
          </a:prstGeom>
        </p:spPr>
      </p:pic>
      <p:pic>
        <p:nvPicPr>
          <p:cNvPr id="18440" name="Picture 8" descr="GenXPro Bioinformatics Tools - Login">
            <a:extLst>
              <a:ext uri="{FF2B5EF4-FFF2-40B4-BE49-F238E27FC236}">
                <a16:creationId xmlns:a16="http://schemas.microsoft.com/office/drawing/2014/main" id="{E634D8A9-DEE5-7ABC-8DFF-D59CC36D38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489" y="3228041"/>
            <a:ext cx="2993721" cy="919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42" name="Picture 10" descr="Zymo Research Europe">
            <a:extLst>
              <a:ext uri="{FF2B5EF4-FFF2-40B4-BE49-F238E27FC236}">
                <a16:creationId xmlns:a16="http://schemas.microsoft.com/office/drawing/2014/main" id="{AC132867-EC56-70D1-258A-98842AB7E2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489" y="4827009"/>
            <a:ext cx="2467627" cy="1291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44" name="Picture 12" descr="Qiagen - Wikipedia">
            <a:extLst>
              <a:ext uri="{FF2B5EF4-FFF2-40B4-BE49-F238E27FC236}">
                <a16:creationId xmlns:a16="http://schemas.microsoft.com/office/drawing/2014/main" id="{65799A20-7D99-7125-523F-E16803A663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5036" y="4041914"/>
            <a:ext cx="2454696" cy="2076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46" name="Picture 14" descr="Revvity - Wikipedia">
            <a:extLst>
              <a:ext uri="{FF2B5EF4-FFF2-40B4-BE49-F238E27FC236}">
                <a16:creationId xmlns:a16="http://schemas.microsoft.com/office/drawing/2014/main" id="{ECEE661E-3285-3323-4C4D-DA26567188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6558" y="3335082"/>
            <a:ext cx="3866872" cy="1583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48" name="Picture 16" descr="10X Genomics raises $35 million for cell sequencing | VentureBeat">
            <a:extLst>
              <a:ext uri="{FF2B5EF4-FFF2-40B4-BE49-F238E27FC236}">
                <a16:creationId xmlns:a16="http://schemas.microsoft.com/office/drawing/2014/main" id="{BE1490E9-D7C7-F46A-4524-2897E03A43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2751" y="4578494"/>
            <a:ext cx="4454485" cy="2228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56930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88EC5-A7AB-B1BA-5D6E-97B0CEFE8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BEBC7-532F-BDB4-5C35-3DF7234443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T"/>
          </a:p>
        </p:txBody>
      </p:sp>
      <p:pic>
        <p:nvPicPr>
          <p:cNvPr id="4" name="Picture 2" descr="Next-Generation Sequencing">
            <a:extLst>
              <a:ext uri="{FF2B5EF4-FFF2-40B4-BE49-F238E27FC236}">
                <a16:creationId xmlns:a16="http://schemas.microsoft.com/office/drawing/2014/main" id="{9A35A154-6523-6079-AE1D-4B6EA6C5CC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73" r="43690"/>
          <a:stretch>
            <a:fillRect/>
          </a:stretch>
        </p:blipFill>
        <p:spPr bwMode="auto">
          <a:xfrm>
            <a:off x="3133549" y="112889"/>
            <a:ext cx="6202363" cy="7127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71851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34948-980D-23A1-BAC1-BDB30F283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b="1" dirty="0"/>
              <a:t>Quality control </a:t>
            </a:r>
            <a:r>
              <a:rPr lang="en-IT" dirty="0"/>
              <a:t>– size &amp; concentration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B71667-4510-26D4-56C4-62055C254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5280" y="1411333"/>
            <a:ext cx="8481439" cy="5186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2806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92C05-167B-E00F-C94B-1FED43E47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5" y="3505199"/>
            <a:ext cx="4809068" cy="2608143"/>
          </a:xfrm>
        </p:spPr>
        <p:txBody>
          <a:bodyPr anchor="t">
            <a:normAutofit/>
          </a:bodyPr>
          <a:lstStyle/>
          <a:p>
            <a:pPr algn="ctr"/>
            <a:r>
              <a:rPr lang="en-GB" sz="4000" b="1"/>
              <a:t>RNA-seq Library Prep Challenges</a:t>
            </a:r>
            <a:endParaRPr lang="en-IT" sz="4000"/>
          </a:p>
        </p:txBody>
      </p:sp>
      <p:pic>
        <p:nvPicPr>
          <p:cNvPr id="7" name="Graphic 6" descr="DNA">
            <a:extLst>
              <a:ext uri="{FF2B5EF4-FFF2-40B4-BE49-F238E27FC236}">
                <a16:creationId xmlns:a16="http://schemas.microsoft.com/office/drawing/2014/main" id="{7B949DD5-B70F-4732-CAAE-C48EEB8B50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90799" y="2519363"/>
            <a:ext cx="914400" cy="9144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16D8A-4D32-0E2C-54E8-F4DE4A1F92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526" y="728132"/>
            <a:ext cx="5668433" cy="5401733"/>
          </a:xfrm>
        </p:spPr>
        <p:txBody>
          <a:bodyPr anchor="ctr">
            <a:normAutofit/>
          </a:bodyPr>
          <a:lstStyle/>
          <a:p>
            <a:r>
              <a:rPr lang="en-GB" sz="2400" b="1" dirty="0"/>
              <a:t>RNA instability</a:t>
            </a:r>
            <a:r>
              <a:rPr lang="en-GB" sz="2400" dirty="0"/>
              <a:t>: RNases everywhere, rapid degradation</a:t>
            </a:r>
          </a:p>
          <a:p>
            <a:r>
              <a:rPr lang="en-GB" sz="2400" b="1" dirty="0"/>
              <a:t>Secondary structures</a:t>
            </a:r>
            <a:r>
              <a:rPr lang="en-GB" sz="2400" dirty="0"/>
              <a:t>: Interfere with reverse transcription</a:t>
            </a:r>
          </a:p>
          <a:p>
            <a:r>
              <a:rPr lang="en-GB" sz="2400" b="1" dirty="0"/>
              <a:t>rRNA abundance</a:t>
            </a:r>
            <a:r>
              <a:rPr lang="en-GB" sz="2400" dirty="0"/>
              <a:t>: 80-90% of total RNA (unwanted)</a:t>
            </a:r>
          </a:p>
          <a:p>
            <a:r>
              <a:rPr lang="en-GB" sz="2400" b="1" dirty="0"/>
              <a:t>Strand specificity</a:t>
            </a:r>
            <a:r>
              <a:rPr lang="en-GB" sz="2400" dirty="0"/>
              <a:t>: Which strand was transcribed?</a:t>
            </a:r>
          </a:p>
          <a:p>
            <a:r>
              <a:rPr lang="en-GB" sz="2400" b="1" dirty="0"/>
              <a:t>RNA modifications</a:t>
            </a:r>
            <a:r>
              <a:rPr lang="en-GB" sz="2400" dirty="0"/>
              <a:t>: Can interfere with enzymes</a:t>
            </a:r>
          </a:p>
          <a:p>
            <a:r>
              <a:rPr lang="en-GB" sz="2400" b="1" dirty="0"/>
              <a:t>Dynamic range</a:t>
            </a:r>
            <a:r>
              <a:rPr lang="en-GB" sz="2400" dirty="0"/>
              <a:t>: High-abundance vs low-abundance transcripts</a:t>
            </a:r>
          </a:p>
        </p:txBody>
      </p:sp>
    </p:spTree>
    <p:extLst>
      <p:ext uri="{BB962C8B-B14F-4D97-AF65-F5344CB8AC3E}">
        <p14:creationId xmlns:p14="http://schemas.microsoft.com/office/powerpoint/2010/main" val="2227556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BE885-0367-36E1-BE25-54757EA21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5CF56-D5BF-652A-56BC-EB73BAC93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RNA-</a:t>
            </a:r>
            <a:r>
              <a:rPr lang="en-GB" b="1" dirty="0" err="1"/>
              <a:t>Seq</a:t>
            </a:r>
            <a:r>
              <a:rPr lang="en-GB" b="1" dirty="0"/>
              <a:t> workflow</a:t>
            </a:r>
            <a:endParaRPr lang="en-IT" b="1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F6B227E-9026-BDD6-90FC-096958D5B6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7422" y="1529883"/>
            <a:ext cx="9697156" cy="5053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32574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6264</TotalTime>
  <Words>310</Words>
  <Application>Microsoft Macintosh PowerPoint</Application>
  <PresentationFormat>Widescreen</PresentationFormat>
  <Paragraphs>49</Paragraphs>
  <Slides>21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Aptos Display</vt:lpstr>
      <vt:lpstr>Arial</vt:lpstr>
      <vt:lpstr>Office Theme</vt:lpstr>
      <vt:lpstr>Multimodal NGS analysis of gene expression and chromatin state in the olfactory epithelium</vt:lpstr>
      <vt:lpstr>RNA-Seq workflow</vt:lpstr>
      <vt:lpstr>PowerPoint Presentation</vt:lpstr>
      <vt:lpstr>Which RNA do we need for conventional RNA-Seq?</vt:lpstr>
      <vt:lpstr>1-5% of total RNA</vt:lpstr>
      <vt:lpstr>Step 1: RNA capture and cDNA synthesis</vt:lpstr>
      <vt:lpstr>Reverse Transcription</vt:lpstr>
      <vt:lpstr>Step 2: Template switch and PCR</vt:lpstr>
      <vt:lpstr>Fragmentation</vt:lpstr>
      <vt:lpstr>Step 3: End repair, A-tailing, Adapter ligation</vt:lpstr>
      <vt:lpstr>Step 4: Stem loop opening</vt:lpstr>
      <vt:lpstr>Step 5: PCR enrichment and clean-up</vt:lpstr>
      <vt:lpstr>Clean-up/size selection with SPRI beads</vt:lpstr>
      <vt:lpstr>Polymerase Chain Reaction (PCR)</vt:lpstr>
      <vt:lpstr>Polymerase Chain Reaction (PCR)</vt:lpstr>
      <vt:lpstr>PowerPoint Presentation</vt:lpstr>
      <vt:lpstr>There are a loooooot of kits and protocols</vt:lpstr>
      <vt:lpstr>PowerPoint Presentation</vt:lpstr>
      <vt:lpstr>Quality control – size &amp; concentration</vt:lpstr>
      <vt:lpstr>RNA-seq Library Prep Challenges</vt:lpstr>
      <vt:lpstr>RNA-Seq workflow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Lisa Korneeva</dc:creator>
  <cp:lastModifiedBy>Lisa</cp:lastModifiedBy>
  <cp:revision>26</cp:revision>
  <cp:lastPrinted>2025-07-25T06:08:56Z</cp:lastPrinted>
  <dcterms:created xsi:type="dcterms:W3CDTF">2025-07-18T14:42:58Z</dcterms:created>
  <dcterms:modified xsi:type="dcterms:W3CDTF">2026-07-14T07:07:08Z</dcterms:modified>
</cp:coreProperties>
</file>