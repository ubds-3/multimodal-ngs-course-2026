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heme/themeOverride1.xml" ContentType="application/vnd.openxmlformats-officedocument.themeOverr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2"/>
  </p:notesMasterIdLst>
  <p:sldIdLst>
    <p:sldId id="363" r:id="rId2"/>
    <p:sldId id="266" r:id="rId3"/>
    <p:sldId id="264" r:id="rId4"/>
    <p:sldId id="265" r:id="rId5"/>
    <p:sldId id="270" r:id="rId6"/>
    <p:sldId id="275" r:id="rId7"/>
    <p:sldId id="274" r:id="rId8"/>
    <p:sldId id="276" r:id="rId9"/>
    <p:sldId id="277" r:id="rId10"/>
    <p:sldId id="278" r:id="rId11"/>
    <p:sldId id="280" r:id="rId12"/>
    <p:sldId id="282" r:id="rId13"/>
    <p:sldId id="262" r:id="rId14"/>
    <p:sldId id="268" r:id="rId15"/>
    <p:sldId id="272" r:id="rId16"/>
    <p:sldId id="283" r:id="rId17"/>
    <p:sldId id="284" r:id="rId18"/>
    <p:sldId id="285" r:id="rId19"/>
    <p:sldId id="321" r:id="rId20"/>
    <p:sldId id="320" r:id="rId21"/>
    <p:sldId id="322" r:id="rId22"/>
    <p:sldId id="260" r:id="rId23"/>
    <p:sldId id="287" r:id="rId24"/>
    <p:sldId id="259" r:id="rId25"/>
    <p:sldId id="281" r:id="rId26"/>
    <p:sldId id="289" r:id="rId27"/>
    <p:sldId id="292" r:id="rId28"/>
    <p:sldId id="293" r:id="rId29"/>
    <p:sldId id="288" r:id="rId30"/>
    <p:sldId id="297" r:id="rId31"/>
    <p:sldId id="263" r:id="rId32"/>
    <p:sldId id="299" r:id="rId33"/>
    <p:sldId id="295" r:id="rId34"/>
    <p:sldId id="300" r:id="rId35"/>
    <p:sldId id="304" r:id="rId36"/>
    <p:sldId id="301" r:id="rId37"/>
    <p:sldId id="302" r:id="rId38"/>
    <p:sldId id="303" r:id="rId39"/>
    <p:sldId id="305" r:id="rId40"/>
    <p:sldId id="306" r:id="rId41"/>
  </p:sldIdLst>
  <p:sldSz cx="12192000" cy="6858000"/>
  <p:notesSz cx="6858000" cy="9144000"/>
  <p:defaultTextStyle>
    <a:defPPr>
      <a:defRPr lang="en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4C18B"/>
    <a:srgbClr val="EA964D"/>
    <a:srgbClr val="EC6E61"/>
    <a:srgbClr val="F5CF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944"/>
    <p:restoredTop sz="87397"/>
  </p:normalViewPr>
  <p:slideViewPr>
    <p:cSldViewPr snapToGrid="0">
      <p:cViewPr varScale="1">
        <p:scale>
          <a:sx n="110" d="100"/>
          <a:sy n="110" d="100"/>
        </p:scale>
        <p:origin x="4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2791A8-DA6A-498C-81E3-AA4384EF3AD4}" type="doc">
      <dgm:prSet loTypeId="urn:microsoft.com/office/officeart/2005/8/layout/defaul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BD83260B-5E35-4742-BCAA-4FF969D26949}">
      <dgm:prSet/>
      <dgm:spPr/>
      <dgm:t>
        <a:bodyPr/>
        <a:lstStyle/>
        <a:p>
          <a:r>
            <a:rPr lang="en-GB" b="1"/>
            <a:t>Many Samples, One Flow Cell</a:t>
          </a:r>
          <a:endParaRPr lang="en-US"/>
        </a:p>
      </dgm:t>
    </dgm:pt>
    <dgm:pt modelId="{E05D8912-BEB0-48E7-87BA-6B3CD8090366}" type="parTrans" cxnId="{78DA9529-509D-4A03-B426-EF3089D175C9}">
      <dgm:prSet/>
      <dgm:spPr/>
      <dgm:t>
        <a:bodyPr/>
        <a:lstStyle/>
        <a:p>
          <a:endParaRPr lang="en-US"/>
        </a:p>
      </dgm:t>
    </dgm:pt>
    <dgm:pt modelId="{D03F683B-CD3D-4DFF-A0AE-D459EE73B5C0}" type="sibTrans" cxnId="{78DA9529-509D-4A03-B426-EF3089D175C9}">
      <dgm:prSet/>
      <dgm:spPr/>
      <dgm:t>
        <a:bodyPr/>
        <a:lstStyle/>
        <a:p>
          <a:endParaRPr lang="en-US"/>
        </a:p>
      </dgm:t>
    </dgm:pt>
    <dgm:pt modelId="{D864DE9A-D5E0-4A75-9BA8-493C21F0A529}">
      <dgm:prSet/>
      <dgm:spPr/>
      <dgm:t>
        <a:bodyPr/>
        <a:lstStyle/>
        <a:p>
          <a:r>
            <a:rPr lang="en-GB" b="1"/>
            <a:t>Benefits</a:t>
          </a:r>
          <a:r>
            <a:rPr lang="en-GB"/>
            <a:t>: Cost reduction, processing efficiency</a:t>
          </a:r>
          <a:endParaRPr lang="en-US"/>
        </a:p>
      </dgm:t>
    </dgm:pt>
    <dgm:pt modelId="{DEC86A6D-8326-4B44-9545-8FDE18D21D50}" type="parTrans" cxnId="{CEA09F55-BDC3-4533-89E1-7D03A01B9835}">
      <dgm:prSet/>
      <dgm:spPr/>
      <dgm:t>
        <a:bodyPr/>
        <a:lstStyle/>
        <a:p>
          <a:endParaRPr lang="en-US"/>
        </a:p>
      </dgm:t>
    </dgm:pt>
    <dgm:pt modelId="{C086AE15-CEB1-4D00-A2A3-34857D7AF3E8}" type="sibTrans" cxnId="{CEA09F55-BDC3-4533-89E1-7D03A01B9835}">
      <dgm:prSet/>
      <dgm:spPr/>
      <dgm:t>
        <a:bodyPr/>
        <a:lstStyle/>
        <a:p>
          <a:endParaRPr lang="en-US"/>
        </a:p>
      </dgm:t>
    </dgm:pt>
    <dgm:pt modelId="{116AC946-8AB0-8842-9F6A-37370E5CF386}" type="pres">
      <dgm:prSet presAssocID="{572791A8-DA6A-498C-81E3-AA4384EF3AD4}" presName="diagram" presStyleCnt="0">
        <dgm:presLayoutVars>
          <dgm:dir/>
          <dgm:resizeHandles val="exact"/>
        </dgm:presLayoutVars>
      </dgm:prSet>
      <dgm:spPr/>
    </dgm:pt>
    <dgm:pt modelId="{C4EB9A12-DB1F-6F4C-A68E-A10A9D1C2F78}" type="pres">
      <dgm:prSet presAssocID="{BD83260B-5E35-4742-BCAA-4FF969D26949}" presName="node" presStyleLbl="node1" presStyleIdx="0" presStyleCnt="2">
        <dgm:presLayoutVars>
          <dgm:bulletEnabled val="1"/>
        </dgm:presLayoutVars>
      </dgm:prSet>
      <dgm:spPr/>
    </dgm:pt>
    <dgm:pt modelId="{289048AF-879F-B946-8E63-F726912FE08E}" type="pres">
      <dgm:prSet presAssocID="{D03F683B-CD3D-4DFF-A0AE-D459EE73B5C0}" presName="sibTrans" presStyleCnt="0"/>
      <dgm:spPr/>
    </dgm:pt>
    <dgm:pt modelId="{797B89A0-2196-E943-B174-2E9CD3622715}" type="pres">
      <dgm:prSet presAssocID="{D864DE9A-D5E0-4A75-9BA8-493C21F0A529}" presName="node" presStyleLbl="node1" presStyleIdx="1" presStyleCnt="2">
        <dgm:presLayoutVars>
          <dgm:bulletEnabled val="1"/>
        </dgm:presLayoutVars>
      </dgm:prSet>
      <dgm:spPr/>
    </dgm:pt>
  </dgm:ptLst>
  <dgm:cxnLst>
    <dgm:cxn modelId="{7D06BA05-C9F2-2446-AF3B-03191554215C}" type="presOf" srcId="{D864DE9A-D5E0-4A75-9BA8-493C21F0A529}" destId="{797B89A0-2196-E943-B174-2E9CD3622715}" srcOrd="0" destOrd="0" presId="urn:microsoft.com/office/officeart/2005/8/layout/default"/>
    <dgm:cxn modelId="{78DA9529-509D-4A03-B426-EF3089D175C9}" srcId="{572791A8-DA6A-498C-81E3-AA4384EF3AD4}" destId="{BD83260B-5E35-4742-BCAA-4FF969D26949}" srcOrd="0" destOrd="0" parTransId="{E05D8912-BEB0-48E7-87BA-6B3CD8090366}" sibTransId="{D03F683B-CD3D-4DFF-A0AE-D459EE73B5C0}"/>
    <dgm:cxn modelId="{CEA09F55-BDC3-4533-89E1-7D03A01B9835}" srcId="{572791A8-DA6A-498C-81E3-AA4384EF3AD4}" destId="{D864DE9A-D5E0-4A75-9BA8-493C21F0A529}" srcOrd="1" destOrd="0" parTransId="{DEC86A6D-8326-4B44-9545-8FDE18D21D50}" sibTransId="{C086AE15-CEB1-4D00-A2A3-34857D7AF3E8}"/>
    <dgm:cxn modelId="{34BAA1D9-84BF-1D40-A1E5-A796A62EDDC9}" type="presOf" srcId="{572791A8-DA6A-498C-81E3-AA4384EF3AD4}" destId="{116AC946-8AB0-8842-9F6A-37370E5CF386}" srcOrd="0" destOrd="0" presId="urn:microsoft.com/office/officeart/2005/8/layout/default"/>
    <dgm:cxn modelId="{9ADF1EE9-D77C-E84C-A00A-404EACD22E4F}" type="presOf" srcId="{BD83260B-5E35-4742-BCAA-4FF969D26949}" destId="{C4EB9A12-DB1F-6F4C-A68E-A10A9D1C2F78}" srcOrd="0" destOrd="0" presId="urn:microsoft.com/office/officeart/2005/8/layout/default"/>
    <dgm:cxn modelId="{528EAD0C-7BE3-4C4E-B0F9-569B74CE585E}" type="presParOf" srcId="{116AC946-8AB0-8842-9F6A-37370E5CF386}" destId="{C4EB9A12-DB1F-6F4C-A68E-A10A9D1C2F78}" srcOrd="0" destOrd="0" presId="urn:microsoft.com/office/officeart/2005/8/layout/default"/>
    <dgm:cxn modelId="{AC0C34F0-129F-F440-8221-6CB97A26E32E}" type="presParOf" srcId="{116AC946-8AB0-8842-9F6A-37370E5CF386}" destId="{289048AF-879F-B946-8E63-F726912FE08E}" srcOrd="1" destOrd="0" presId="urn:microsoft.com/office/officeart/2005/8/layout/default"/>
    <dgm:cxn modelId="{D746B860-DF11-6A47-814D-5EA09C09EBD5}" type="presParOf" srcId="{116AC946-8AB0-8842-9F6A-37370E5CF386}" destId="{797B89A0-2196-E943-B174-2E9CD3622715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EB9A12-DB1F-6F4C-A68E-A10A9D1C2F78}">
      <dsp:nvSpPr>
        <dsp:cNvPr id="0" name=""/>
        <dsp:cNvSpPr/>
      </dsp:nvSpPr>
      <dsp:spPr>
        <a:xfrm>
          <a:off x="1283" y="472576"/>
          <a:ext cx="5006206" cy="300372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700" b="1" kern="1200"/>
            <a:t>Many Samples, One Flow Cell</a:t>
          </a:r>
          <a:endParaRPr lang="en-US" sz="4700" kern="1200"/>
        </a:p>
      </dsp:txBody>
      <dsp:txXfrm>
        <a:off x="1283" y="472576"/>
        <a:ext cx="5006206" cy="3003723"/>
      </dsp:txXfrm>
    </dsp:sp>
    <dsp:sp modelId="{797B89A0-2196-E943-B174-2E9CD3622715}">
      <dsp:nvSpPr>
        <dsp:cNvPr id="0" name=""/>
        <dsp:cNvSpPr/>
      </dsp:nvSpPr>
      <dsp:spPr>
        <a:xfrm>
          <a:off x="5508110" y="472576"/>
          <a:ext cx="5006206" cy="3003723"/>
        </a:xfrm>
        <a:prstGeom prst="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700" b="1" kern="1200"/>
            <a:t>Benefits</a:t>
          </a:r>
          <a:r>
            <a:rPr lang="en-GB" sz="4700" kern="1200"/>
            <a:t>: Cost reduction, processing efficiency</a:t>
          </a:r>
          <a:endParaRPr lang="en-US" sz="4700" kern="1200"/>
        </a:p>
      </dsp:txBody>
      <dsp:txXfrm>
        <a:off x="5508110" y="472576"/>
        <a:ext cx="5006206" cy="300372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E1A3EA-172D-BF4B-AECA-00F0E83800E7}" type="datetimeFigureOut">
              <a:rPr lang="en-IT" smtClean="0"/>
              <a:t>13/07/26</a:t>
            </a:fld>
            <a:endParaRPr lang="en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062642-6185-7F4E-9F5A-1850AF8A230E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970777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fz2OpjxQKKM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https://youtu.be/fz2OpjxQKKM</a:t>
            </a:r>
            <a:endParaRPr lang="en-GB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GB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Lysis and Binding: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Cells are lysed to release their nucleic acids (DNA and/or RNA).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lysate is mixed with a high-salt buffer, which promotes binding of nucleic acids to the silica membrane in the spin column.</a:t>
            </a:r>
          </a:p>
          <a:p>
            <a:pPr fontAlgn="ctr"/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Other cellular components and proteins that do not bind to the silica pass through the column during centrifugation or vacuum application. 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Washing: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series of wash steps with specific buffers (often containing ethanol or isopropanol) are performed to remove remaining contaminants like salts, proteins, and other cellular debris.</a:t>
            </a:r>
          </a:p>
          <a:p>
            <a:pPr fontAlgn="ctr"/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buffers used in the wash steps maintain the binding conditions, ensuring that the nucleic acids remain bound to the silica membrane. 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Elution:</a:t>
            </a:r>
          </a:p>
          <a:p>
            <a:pPr fontAlgn="ctr"/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low-salt buffer or water is added to the column, disrupting the interaction between the nucleic acids and the silica membrane. </a:t>
            </a:r>
          </a:p>
          <a:p>
            <a:pPr fontAlgn="ctr"/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purified nucleic acids are eluted, meaning they are released from the column and collected in the buffer. 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eluted nucleic acids are then ready for downstream applications such as PCR, sequencing, or other molecular biology techniques. </a:t>
            </a:r>
          </a:p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062642-6185-7F4E-9F5A-1850AF8A230E}" type="slidenum">
              <a:rPr lang="en-IT" smtClean="0"/>
              <a:t>8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562079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</a:t>
            </a:r>
            <a:r>
              <a:rPr lang="en-GB" dirty="0" err="1"/>
              <a:t>youtu.be</a:t>
            </a:r>
            <a:r>
              <a:rPr lang="en-GB" dirty="0"/>
              <a:t>/SMMVSN6QSso?si=L4njWlY-uBY4WvRG</a:t>
            </a:r>
          </a:p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062642-6185-7F4E-9F5A-1850AF8A230E}" type="slidenum">
              <a:rPr lang="en-IT" smtClean="0"/>
              <a:t>9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4147334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FA33F-6980-FDCB-6D9A-99CB63362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D7696A-4CCD-B6AB-A9FC-A881829FA7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0A61A2-7398-15CA-34E3-EB40F2F542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</a:t>
            </a:r>
            <a:r>
              <a:rPr lang="en-GB" dirty="0" err="1"/>
              <a:t>youtu.be</a:t>
            </a:r>
            <a:r>
              <a:rPr lang="en-GB" dirty="0"/>
              <a:t>/SMMVSN6QSso?si=L4njWlY-uBY4WvRG</a:t>
            </a:r>
          </a:p>
          <a:p>
            <a:endParaRPr lang="en-I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F3952D-4D83-756C-E875-5C072E9CCE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062642-6185-7F4E-9F5A-1850AF8A230E}" type="slidenum">
              <a:rPr lang="en-IT" smtClean="0"/>
              <a:t>10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41141461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https://</a:t>
            </a:r>
            <a:r>
              <a:rPr lang="en-GB" dirty="0" err="1"/>
              <a:t>zymoresearch.eu</a:t>
            </a:r>
            <a:r>
              <a:rPr lang="en-GB" dirty="0"/>
              <a:t>/blogs/blog/how-to-extract-rna-from-hard-to-lyse-samples-in-trizol%C2%AE</a:t>
            </a:r>
            <a:endParaRPr lang="en-IT" dirty="0"/>
          </a:p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062642-6185-7F4E-9F5A-1850AF8A230E}" type="slidenum">
              <a:rPr lang="en-IT" smtClean="0"/>
              <a:t>11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3421202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062642-6185-7F4E-9F5A-1850AF8A230E}" type="slidenum">
              <a:rPr lang="en-IT" smtClean="0"/>
              <a:t>20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582365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</a:t>
            </a:r>
            <a:r>
              <a:rPr lang="en-GB" dirty="0" err="1"/>
              <a:t>www.researchgate.net</a:t>
            </a:r>
            <a:r>
              <a:rPr lang="en-GB" dirty="0"/>
              <a:t>/figure/Comparison-of-the-maximum-number-of-single-reads-per-flow-cell-and-run-time-of-the-Genome_tbl1_354145721</a:t>
            </a:r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062642-6185-7F4E-9F5A-1850AF8A230E}" type="slidenum">
              <a:rPr lang="en-IT" smtClean="0"/>
              <a:t>39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909818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B6D17-1577-E237-5960-20E2A373BF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654E9D-5633-B66C-5217-B35BBE860F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40A51B-65D1-1787-B54F-2D71A748F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F6F0C-0BC8-AC48-A51F-C13C082BB81F}" type="datetimeFigureOut">
              <a:rPr lang="en-IT" smtClean="0"/>
              <a:t>13/07/26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63A00C-8346-FE3C-ABB1-C614BCE6B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4031C1-4A9E-7362-6F2A-FA5EE50F0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D01A2-85C7-4347-A5CE-33F091228270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4035097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9DEAD-298D-A2EB-2236-F3E40D8D4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DE9E46-172B-9A82-8495-174942C494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491CCE-2735-EBB8-C2EA-0D7D7AA1E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F6F0C-0BC8-AC48-A51F-C13C082BB81F}" type="datetimeFigureOut">
              <a:rPr lang="en-IT" smtClean="0"/>
              <a:t>13/07/26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08B8F7-EFDF-E752-ECB7-8FBB59360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C29B88-F21C-CF28-CC1B-83E9A9B42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D01A2-85C7-4347-A5CE-33F091228270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257785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2D969-435D-97DB-C356-29C71D128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577C55-F3ED-6D66-1700-328587A4D4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526E08-BEFD-542D-B27A-30CBA1A0F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F6F0C-0BC8-AC48-A51F-C13C082BB81F}" type="datetimeFigureOut">
              <a:rPr lang="en-IT" smtClean="0"/>
              <a:t>13/07/26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6F7EC6-AE26-B061-6DFB-01F2DBEE2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E88DF3-8FBB-14E6-D200-AA9BD28FC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D01A2-85C7-4347-A5CE-33F091228270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025713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FACC0-5794-B22F-B782-A8F741E00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B65D53-A3D2-0CDA-BD3F-18D3735B14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8C0FC1-7DA0-1648-2E45-97325CF79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F4981E-EBB1-42DC-E29C-1FFF414B5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F6F0C-0BC8-AC48-A51F-C13C082BB81F}" type="datetimeFigureOut">
              <a:rPr lang="en-IT" smtClean="0"/>
              <a:t>13/07/26</a:t>
            </a:fld>
            <a:endParaRPr lang="en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885349-6C99-CC16-7FD0-B580400BA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0AA099-CBBA-38B8-CF32-DDE560B26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D01A2-85C7-4347-A5CE-33F091228270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504962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8ECAB-7C75-0C3A-B779-F61001E2D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F7B4BA-A9AE-95F0-17B4-A2756E85B5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8D2C6A-F365-76C6-A989-6C5E805FAA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B0B7AB-B5A4-B7C1-8B56-3B40F66432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03577E-2974-8732-7C8B-E16AFE6A95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9C1E0F-656A-3E04-61CB-8740F30B9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F6F0C-0BC8-AC48-A51F-C13C082BB81F}" type="datetimeFigureOut">
              <a:rPr lang="en-IT" smtClean="0"/>
              <a:t>13/07/26</a:t>
            </a:fld>
            <a:endParaRPr lang="en-I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4312AF-BE33-E8CE-812A-D30EF4B94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7CE515-5E0A-489D-CC65-59E537B28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D01A2-85C7-4347-A5CE-33F091228270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498821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63497-4FA4-61BC-1CE4-80A3DA59A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7E5CDC-89C8-C93E-3C29-AC5AB8922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F6F0C-0BC8-AC48-A51F-C13C082BB81F}" type="datetimeFigureOut">
              <a:rPr lang="en-IT" smtClean="0"/>
              <a:t>13/07/26</a:t>
            </a:fld>
            <a:endParaRPr lang="en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3BD277-B17F-8630-DC57-D756491FA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C44EEB-D4ED-4400-B9B5-3133E9200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D01A2-85C7-4347-A5CE-33F091228270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530025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8D60DE-A547-D81B-275F-2E6B6D0A6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F6F0C-0BC8-AC48-A51F-C13C082BB81F}" type="datetimeFigureOut">
              <a:rPr lang="en-IT" smtClean="0"/>
              <a:t>13/07/26</a:t>
            </a:fld>
            <a:endParaRPr lang="en-I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BD706D-E22A-567E-9407-C3C4B787D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A7ADAD-42CE-E8EC-B83D-72B480E52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D01A2-85C7-4347-A5CE-33F091228270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557585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FCBB4-71FE-168F-06E1-99DA1570D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D7685F-7B1F-AB4D-3C22-F4A93B227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35C37C-8EED-253C-4896-79783FF9CB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BD9989-C98F-AAAF-CC53-4C1505B98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F6F0C-0BC8-AC48-A51F-C13C082BB81F}" type="datetimeFigureOut">
              <a:rPr lang="en-IT" smtClean="0"/>
              <a:t>13/07/26</a:t>
            </a:fld>
            <a:endParaRPr lang="en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65EE24-C821-8B7B-370D-2CDE3A9E8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9539B1-42EA-8F4B-D818-50C30CFF6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D01A2-85C7-4347-A5CE-33F091228270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485443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F02C6-939C-C606-296B-7B67D53CD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07C8D3-2183-766C-D5DC-2E6283DE12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3D385E-097E-402F-71E2-0249EB0913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9312F8-60EA-8606-BD2F-103304BD8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F6F0C-0BC8-AC48-A51F-C13C082BB81F}" type="datetimeFigureOut">
              <a:rPr lang="en-IT" smtClean="0"/>
              <a:t>13/07/26</a:t>
            </a:fld>
            <a:endParaRPr lang="en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DACC13-A3BC-4F7A-4389-F6272115A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8B35BF-A49C-C78A-45FB-64AEC8DD6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D01A2-85C7-4347-A5CE-33F091228270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062604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D155D-1D44-944E-C85F-6DC3C639F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E83624-0357-6F88-27C6-E376E98B16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A13245-0F64-A249-33B2-920217407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F6F0C-0BC8-AC48-A51F-C13C082BB81F}" type="datetimeFigureOut">
              <a:rPr lang="en-IT" smtClean="0"/>
              <a:t>13/07/26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E0EB58-B87F-C9F5-0ECF-6AAA0A8A6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62F435-D3A3-E880-6E7D-3EF7744CC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D01A2-85C7-4347-A5CE-33F091228270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553796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AE4BAE-FF9A-020C-7E0A-80CDF9F4BC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C94FA3-6BE4-D5B5-4149-D58FF20F73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450FE1-B295-0FC5-EDDF-0ADA020F1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F6F0C-0BC8-AC48-A51F-C13C082BB81F}" type="datetimeFigureOut">
              <a:rPr lang="en-IT" smtClean="0"/>
              <a:t>13/07/26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3E5106-9F83-C54A-3EA0-DA5F92042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FDADA-5526-906F-8075-E502DE6EE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D01A2-85C7-4347-A5CE-33F091228270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763936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925390-2C30-DD34-3577-CA26EFD7F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C048DD-209B-9A5C-E266-5BA40D6AC1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BF3DE3-5733-21D2-9DEF-23CA3AB6B1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6F6F0C-0BC8-AC48-A51F-C13C082BB81F}" type="datetimeFigureOut">
              <a:rPr lang="en-IT" smtClean="0"/>
              <a:t>13/07/26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A76F32-318D-8BE5-3653-FECD9DF7B5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995BA1-1686-8656-8FCA-D1ED055704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0D01A2-85C7-4347-A5CE-33F091228270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066314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e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67F39-1B9E-C471-B74F-3C30536312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-805180"/>
            <a:ext cx="9144000" cy="2387600"/>
          </a:xfrm>
        </p:spPr>
        <p:txBody>
          <a:bodyPr>
            <a:normAutofit/>
          </a:bodyPr>
          <a:lstStyle/>
          <a:p>
            <a:r>
              <a:rPr lang="en-GB" sz="3200" dirty="0"/>
              <a:t>Multimodal NGS analysis of gene expression and chromatin state in the olfactory epithelium</a:t>
            </a:r>
            <a:endParaRPr lang="en-IT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1FC96B-9C44-95CA-7B01-FA9E269763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202238"/>
            <a:ext cx="9144000" cy="1655762"/>
          </a:xfrm>
        </p:spPr>
        <p:txBody>
          <a:bodyPr>
            <a:normAutofit/>
          </a:bodyPr>
          <a:lstStyle/>
          <a:p>
            <a:r>
              <a:rPr lang="en-IT" dirty="0">
                <a:latin typeface="+mj-lt"/>
              </a:rPr>
              <a:t>UBDS^3 2026 | Week 2, Day 2</a:t>
            </a:r>
          </a:p>
          <a:p>
            <a:r>
              <a:rPr lang="en-IT" dirty="0">
                <a:latin typeface="+mj-lt"/>
              </a:rPr>
              <a:t>Tutor: Lisa Korneeva        TA: Oleksandr Lykhenko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9DC9097-F3BF-2F01-3A15-78338A81E9F1}"/>
              </a:ext>
            </a:extLst>
          </p:cNvPr>
          <p:cNvSpPr txBox="1">
            <a:spLocks/>
          </p:cNvSpPr>
          <p:nvPr/>
        </p:nvSpPr>
        <p:spPr>
          <a:xfrm>
            <a:off x="1524000" y="2052320"/>
            <a:ext cx="9144000" cy="187198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T" sz="4000" b="1" dirty="0"/>
              <a:t>NGS library construction: general principles</a:t>
            </a:r>
          </a:p>
        </p:txBody>
      </p:sp>
    </p:spTree>
    <p:extLst>
      <p:ext uri="{BB962C8B-B14F-4D97-AF65-F5344CB8AC3E}">
        <p14:creationId xmlns:p14="http://schemas.microsoft.com/office/powerpoint/2010/main" val="40735307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Next-Generation Sequencing">
            <a:extLst>
              <a:ext uri="{FF2B5EF4-FFF2-40B4-BE49-F238E27FC236}">
                <a16:creationId xmlns:a16="http://schemas.microsoft.com/office/drawing/2014/main" id="{818CE69B-4B33-6E5A-0559-C0185F0EFC0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73" r="43690"/>
          <a:stretch>
            <a:fillRect/>
          </a:stretch>
        </p:blipFill>
        <p:spPr bwMode="auto">
          <a:xfrm>
            <a:off x="3133549" y="112889"/>
            <a:ext cx="6202363" cy="7127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97427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B256A-BB47-6A46-EB1D-1E50FB067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IT" sz="5400" b="1" dirty="0"/>
              <a:t>Sample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7A7F23-4CF7-465D-D62D-F116E35657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>
            <a:noAutofit/>
          </a:bodyPr>
          <a:lstStyle/>
          <a:p>
            <a:r>
              <a:rPr lang="en-GB" sz="2400" b="1" dirty="0"/>
              <a:t>Clinical samples</a:t>
            </a:r>
            <a:r>
              <a:rPr lang="en-GB" sz="2400" dirty="0"/>
              <a:t>: Blood, saliva, tissue biopsies, FFPE samples </a:t>
            </a:r>
          </a:p>
          <a:p>
            <a:r>
              <a:rPr lang="en-GB" sz="2400" b="1" dirty="0"/>
              <a:t>Research samples</a:t>
            </a:r>
            <a:r>
              <a:rPr lang="en-GB" sz="2400" dirty="0"/>
              <a:t>: Cell cultures, model organisms, single cells </a:t>
            </a:r>
          </a:p>
          <a:p>
            <a:r>
              <a:rPr lang="en-GB" sz="2400" b="1" dirty="0"/>
              <a:t>Environmental</a:t>
            </a:r>
            <a:r>
              <a:rPr lang="en-GB" sz="2400" dirty="0"/>
              <a:t>: Soil, water, microbiome samples </a:t>
            </a:r>
          </a:p>
          <a:p>
            <a:r>
              <a:rPr lang="en-GB" sz="2400" b="1" dirty="0"/>
              <a:t>Forensic</a:t>
            </a:r>
            <a:r>
              <a:rPr lang="en-GB" sz="2400" dirty="0"/>
              <a:t>: Degraded/ancient DNA, trace amounts </a:t>
            </a:r>
          </a:p>
          <a:p>
            <a:r>
              <a:rPr lang="en-GB" sz="2400" b="1" dirty="0"/>
              <a:t>Plant/Agricultural</a:t>
            </a:r>
            <a:r>
              <a:rPr lang="en-GB" sz="2400" dirty="0"/>
              <a:t>: Seeds, leaves, roots</a:t>
            </a:r>
            <a:endParaRPr lang="en-IT" sz="2400" dirty="0"/>
          </a:p>
        </p:txBody>
      </p:sp>
      <p:pic>
        <p:nvPicPr>
          <p:cNvPr id="5" name="Picture 4" descr="Close up of cultures in petri dishes on a counter in a lab">
            <a:extLst>
              <a:ext uri="{FF2B5EF4-FFF2-40B4-BE49-F238E27FC236}">
                <a16:creationId xmlns:a16="http://schemas.microsoft.com/office/drawing/2014/main" id="{B204C321-AC6C-69EE-7DC7-D112821715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351" r="23317" b="-1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257389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8B51A-85BC-6BB9-118C-A8F26C20D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T" sz="5400" b="1"/>
              <a:t>Standards and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CDF0CA-733D-7490-03B0-BEA3CF1DC5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4536"/>
            <a:ext cx="10515600" cy="4251960"/>
          </a:xfrm>
        </p:spPr>
        <p:txBody>
          <a:bodyPr>
            <a:normAutofit/>
          </a:bodyPr>
          <a:lstStyle/>
          <a:p>
            <a:r>
              <a:rPr lang="en-GB" sz="2400" b="1" dirty="0"/>
              <a:t>Fresh samples</a:t>
            </a:r>
            <a:r>
              <a:rPr lang="en-GB" sz="2400" dirty="0"/>
              <a:t>: Ideal but not always possible </a:t>
            </a:r>
          </a:p>
          <a:p>
            <a:r>
              <a:rPr lang="en-GB" sz="2400" b="1" dirty="0"/>
              <a:t>Frozen samples</a:t>
            </a:r>
            <a:r>
              <a:rPr lang="en-GB" sz="2400" dirty="0"/>
              <a:t>: -80°C gold standard </a:t>
            </a:r>
          </a:p>
          <a:p>
            <a:r>
              <a:rPr lang="en-GB" sz="2400" b="1" dirty="0"/>
              <a:t>FFPE tissues</a:t>
            </a:r>
            <a:r>
              <a:rPr lang="en-GB" sz="2400" dirty="0"/>
              <a:t>: Challenging but increasingly important </a:t>
            </a:r>
          </a:p>
          <a:p>
            <a:r>
              <a:rPr lang="en-GB" sz="2400" b="1" dirty="0"/>
              <a:t>Single cells</a:t>
            </a:r>
            <a:r>
              <a:rPr lang="en-GB" sz="2400" dirty="0"/>
              <a:t>: Revolutionary but technically demanding </a:t>
            </a:r>
          </a:p>
          <a:p>
            <a:r>
              <a:rPr lang="en-GB" sz="2400" b="1" dirty="0"/>
              <a:t>Plasma/serum</a:t>
            </a:r>
            <a:r>
              <a:rPr lang="en-GB" sz="2400" dirty="0"/>
              <a:t>: Circulating RNA for liquid biopsies </a:t>
            </a:r>
          </a:p>
          <a:p>
            <a:r>
              <a:rPr lang="en-GB" sz="2400" b="1" dirty="0"/>
              <a:t>RNA challenges</a:t>
            </a:r>
            <a:r>
              <a:rPr lang="en-GB" sz="2400" dirty="0"/>
              <a:t>: RNases everywhere, degradation, low abundance</a:t>
            </a:r>
            <a:endParaRPr lang="en-IT" sz="2400" dirty="0"/>
          </a:p>
        </p:txBody>
      </p:sp>
    </p:spTree>
    <p:extLst>
      <p:ext uri="{BB962C8B-B14F-4D97-AF65-F5344CB8AC3E}">
        <p14:creationId xmlns:p14="http://schemas.microsoft.com/office/powerpoint/2010/main" val="13296536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E99D7-F89E-4086-D6D0-9D9204275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Next-Generation Sequencing">
            <a:extLst>
              <a:ext uri="{FF2B5EF4-FFF2-40B4-BE49-F238E27FC236}">
                <a16:creationId xmlns:a16="http://schemas.microsoft.com/office/drawing/2014/main" id="{454D83C4-6D94-1836-3EA2-49756516AD8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73" r="43690"/>
          <a:stretch>
            <a:fillRect/>
          </a:stretch>
        </p:blipFill>
        <p:spPr bwMode="auto">
          <a:xfrm>
            <a:off x="1977107" y="112889"/>
            <a:ext cx="6202363" cy="7127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Next-Generation Sequencing">
            <a:extLst>
              <a:ext uri="{FF2B5EF4-FFF2-40B4-BE49-F238E27FC236}">
                <a16:creationId xmlns:a16="http://schemas.microsoft.com/office/drawing/2014/main" id="{A74D8DD6-91AF-7A3D-D0DE-A6A073B0BD3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680" t="25021" b="61152"/>
          <a:stretch>
            <a:fillRect/>
          </a:stretch>
        </p:blipFill>
        <p:spPr bwMode="auto">
          <a:xfrm>
            <a:off x="8071555" y="112889"/>
            <a:ext cx="3970338" cy="948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C03391A-4480-19CC-A749-AFF280F28B16}"/>
              </a:ext>
            </a:extLst>
          </p:cNvPr>
          <p:cNvSpPr txBox="1"/>
          <p:nvPr/>
        </p:nvSpPr>
        <p:spPr>
          <a:xfrm>
            <a:off x="8124956" y="5164488"/>
            <a:ext cx="4040150" cy="1661993"/>
          </a:xfrm>
          <a:prstGeom prst="rect">
            <a:avLst/>
          </a:prstGeom>
          <a:solidFill>
            <a:srgbClr val="EA964D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T" sz="3600" b="1" dirty="0"/>
              <a:t>Step 2: </a:t>
            </a:r>
          </a:p>
          <a:p>
            <a:pPr algn="ctr"/>
            <a:r>
              <a:rPr lang="en-IT" sz="3300" dirty="0"/>
              <a:t>Sample submission and extraction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D3C7DD-94DC-2742-46CC-3CA6733277D4}"/>
              </a:ext>
            </a:extLst>
          </p:cNvPr>
          <p:cNvSpPr txBox="1"/>
          <p:nvPr/>
        </p:nvSpPr>
        <p:spPr>
          <a:xfrm>
            <a:off x="8124956" y="3964159"/>
            <a:ext cx="4040150" cy="1154162"/>
          </a:xfrm>
          <a:prstGeom prst="rect">
            <a:avLst/>
          </a:prstGeom>
          <a:solidFill>
            <a:srgbClr val="EC6E6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T" sz="3600" b="1" dirty="0"/>
              <a:t>Step 1: </a:t>
            </a:r>
          </a:p>
          <a:p>
            <a:pPr algn="ctr"/>
            <a:r>
              <a:rPr lang="en-IT" sz="3300" dirty="0"/>
              <a:t>Sample consultation</a:t>
            </a:r>
          </a:p>
        </p:txBody>
      </p:sp>
    </p:spTree>
    <p:extLst>
      <p:ext uri="{BB962C8B-B14F-4D97-AF65-F5344CB8AC3E}">
        <p14:creationId xmlns:p14="http://schemas.microsoft.com/office/powerpoint/2010/main" val="27737203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1C0632-F47A-15F2-C5D9-615933974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7F30ED-2560-60F8-8DCF-4CCDACFE3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n-GB" b="1">
                <a:solidFill>
                  <a:srgbClr val="FFFFFF"/>
                </a:solidFill>
              </a:rPr>
              <a:t>Extraction Methods</a:t>
            </a:r>
            <a:endParaRPr lang="en-IT" b="1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26F087-597F-3100-F73A-888B639D4A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>
            <a:normAutofit/>
          </a:bodyPr>
          <a:lstStyle/>
          <a:p>
            <a:r>
              <a:rPr lang="en-GB" b="1" dirty="0"/>
              <a:t>Column-based kits</a:t>
            </a:r>
            <a:r>
              <a:rPr lang="en-GB" dirty="0"/>
              <a:t>: Fast, standardized (Qiagen, </a:t>
            </a:r>
            <a:r>
              <a:rPr lang="en-GB" dirty="0" err="1"/>
              <a:t>Zymo</a:t>
            </a:r>
            <a:r>
              <a:rPr lang="en-GB" dirty="0"/>
              <a:t>) </a:t>
            </a:r>
          </a:p>
          <a:p>
            <a:r>
              <a:rPr lang="en-GB" b="1" dirty="0"/>
              <a:t>Magnetic beads</a:t>
            </a:r>
            <a:r>
              <a:rPr lang="en-GB" dirty="0"/>
              <a:t>: Automation-friendly (Beckman, </a:t>
            </a:r>
            <a:r>
              <a:rPr lang="en-GB" dirty="0" err="1"/>
              <a:t>Thermo</a:t>
            </a:r>
            <a:r>
              <a:rPr lang="en-GB" dirty="0"/>
              <a:t>) </a:t>
            </a:r>
          </a:p>
          <a:p>
            <a:r>
              <a:rPr lang="en-GB" b="1" dirty="0"/>
              <a:t>Direct lysis</a:t>
            </a:r>
            <a:r>
              <a:rPr lang="en-GB" dirty="0"/>
              <a:t>: Minimal processing (good for single cells) </a:t>
            </a:r>
          </a:p>
        </p:txBody>
      </p:sp>
    </p:spTree>
    <p:extLst>
      <p:ext uri="{BB962C8B-B14F-4D97-AF65-F5344CB8AC3E}">
        <p14:creationId xmlns:p14="http://schemas.microsoft.com/office/powerpoint/2010/main" val="31215502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9F03E-2E53-60C6-52D6-3B5520A8D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F1D88-B911-752E-2FA4-7B7C09A15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Extraction methods: Column-based</a:t>
            </a:r>
            <a:endParaRPr lang="en-IT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7B718B-FFF2-F33A-BF4F-E66071E5A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Column-based kits</a:t>
            </a:r>
            <a:r>
              <a:rPr lang="en-GB" dirty="0"/>
              <a:t>: Fast, standardized (Qiagen, </a:t>
            </a:r>
            <a:r>
              <a:rPr lang="en-GB" dirty="0" err="1"/>
              <a:t>Zymo</a:t>
            </a:r>
            <a:r>
              <a:rPr lang="en-GB" dirty="0"/>
              <a:t>) </a:t>
            </a:r>
          </a:p>
        </p:txBody>
      </p:sp>
      <p:pic>
        <p:nvPicPr>
          <p:cNvPr id="4098" name="Picture 2" descr="Quick-DNA Kits | ZYMO RESEARCH">
            <a:extLst>
              <a:ext uri="{FF2B5EF4-FFF2-40B4-BE49-F238E27FC236}">
                <a16:creationId xmlns:a16="http://schemas.microsoft.com/office/drawing/2014/main" id="{0F6695ED-B7BA-7A4F-4791-7C989264E2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8" t="26374" r="9895" b="18470"/>
          <a:stretch>
            <a:fillRect/>
          </a:stretch>
        </p:blipFill>
        <p:spPr bwMode="auto">
          <a:xfrm>
            <a:off x="589844" y="2791462"/>
            <a:ext cx="4219222" cy="2419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Zymo-Spin IIICG Columns">
            <a:extLst>
              <a:ext uri="{FF2B5EF4-FFF2-40B4-BE49-F238E27FC236}">
                <a16:creationId xmlns:a16="http://schemas.microsoft.com/office/drawing/2014/main" id="{A7007CA8-11D5-E7DA-5AE2-CB7F4E6C9C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518" t="8572" r="30000" b="8254"/>
          <a:stretch>
            <a:fillRect/>
          </a:stretch>
        </p:blipFill>
        <p:spPr bwMode="auto">
          <a:xfrm>
            <a:off x="9607468" y="2800791"/>
            <a:ext cx="1746332" cy="306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QIAprep Spin Miniprep Columns">
            <a:extLst>
              <a:ext uri="{FF2B5EF4-FFF2-40B4-BE49-F238E27FC236}">
                <a16:creationId xmlns:a16="http://schemas.microsoft.com/office/drawing/2014/main" id="{15E71DA0-A347-3163-C24B-EB5C82F7CC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8396" y="3925140"/>
            <a:ext cx="3859742" cy="2571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23654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6DC9D-592C-27FB-65FB-905E63027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Extraction methods: Column-based</a:t>
            </a:r>
            <a:endParaRPr lang="en-IT" b="1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4D9EDDC9-7F38-48D5-A9AE-B7808112BC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194279"/>
            <a:ext cx="12192000" cy="332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4FC6CB8-C964-A372-BDC6-3F2E5E580B82}"/>
              </a:ext>
            </a:extLst>
          </p:cNvPr>
          <p:cNvSpPr txBox="1"/>
          <p:nvPr/>
        </p:nvSpPr>
        <p:spPr>
          <a:xfrm>
            <a:off x="5492210" y="6231265"/>
            <a:ext cx="65966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600" dirty="0"/>
              <a:t>https://</a:t>
            </a:r>
            <a:r>
              <a:rPr lang="en-GB" sz="1600" dirty="0" err="1"/>
              <a:t>www.integra-biosciences.com</a:t>
            </a:r>
            <a:r>
              <a:rPr lang="en-GB" sz="1600" dirty="0"/>
              <a:t>/global/</a:t>
            </a:r>
            <a:r>
              <a:rPr lang="en-GB" sz="1600" dirty="0" err="1"/>
              <a:t>en</a:t>
            </a:r>
            <a:r>
              <a:rPr lang="en-GB" sz="1600" dirty="0"/>
              <a:t>/stories/automated-nucleic-acid-purification-assist-plus-pipetting-robot</a:t>
            </a:r>
            <a:endParaRPr lang="en-IT" sz="1600" dirty="0"/>
          </a:p>
        </p:txBody>
      </p:sp>
    </p:spTree>
    <p:extLst>
      <p:ext uri="{BB962C8B-B14F-4D97-AF65-F5344CB8AC3E}">
        <p14:creationId xmlns:p14="http://schemas.microsoft.com/office/powerpoint/2010/main" val="927682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FF511-3B4C-B411-C007-F419BF6F4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7C4EF-70D9-DB40-09D3-3A8B86B9D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Extraction methods: Magnetic beads</a:t>
            </a:r>
            <a:endParaRPr lang="en-IT" b="1" dirty="0"/>
          </a:p>
        </p:txBody>
      </p:sp>
      <p:pic>
        <p:nvPicPr>
          <p:cNvPr id="6146" name="Picture 2" descr="DNA and RNA Concentrator (Magnetic Beads)">
            <a:extLst>
              <a:ext uri="{FF2B5EF4-FFF2-40B4-BE49-F238E27FC236}">
                <a16:creationId xmlns:a16="http://schemas.microsoft.com/office/drawing/2014/main" id="{703D6757-25DE-A35F-A628-78D21D71D5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955" y="1690688"/>
            <a:ext cx="10222089" cy="4213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BDE9BA8-84F5-D5C3-2F44-494D24DAC892}"/>
              </a:ext>
            </a:extLst>
          </p:cNvPr>
          <p:cNvSpPr txBox="1"/>
          <p:nvPr/>
        </p:nvSpPr>
        <p:spPr>
          <a:xfrm>
            <a:off x="3962401" y="6400357"/>
            <a:ext cx="9177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https://</a:t>
            </a:r>
            <a:r>
              <a:rPr lang="en-GB" dirty="0" err="1"/>
              <a:t>nucleusbiotech.com</a:t>
            </a:r>
            <a:r>
              <a:rPr lang="en-GB" dirty="0"/>
              <a:t>/</a:t>
            </a:r>
            <a:r>
              <a:rPr lang="en-GB" dirty="0" err="1"/>
              <a:t>produkt</a:t>
            </a:r>
            <a:r>
              <a:rPr lang="en-GB" dirty="0"/>
              <a:t>/</a:t>
            </a:r>
            <a:r>
              <a:rPr lang="en-GB" dirty="0" err="1"/>
              <a:t>dna</a:t>
            </a:r>
            <a:r>
              <a:rPr lang="en-GB" dirty="0"/>
              <a:t>-and-</a:t>
            </a:r>
            <a:r>
              <a:rPr lang="en-GB" dirty="0" err="1"/>
              <a:t>rna</a:t>
            </a:r>
            <a:r>
              <a:rPr lang="en-GB" dirty="0"/>
              <a:t>-concentrator-magnetic-beads/</a:t>
            </a:r>
            <a:endParaRPr lang="en-IT" dirty="0"/>
          </a:p>
        </p:txBody>
      </p:sp>
    </p:spTree>
    <p:extLst>
      <p:ext uri="{BB962C8B-B14F-4D97-AF65-F5344CB8AC3E}">
        <p14:creationId xmlns:p14="http://schemas.microsoft.com/office/powerpoint/2010/main" val="32586076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0D47D-4F84-3957-84B6-5259529BB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E5890-9432-2CD3-E35C-83CBCDE35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Extraction methods: Magnetic beads</a:t>
            </a:r>
            <a:endParaRPr lang="en-IT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E34B81-4B3F-F4C3-79F9-5CC4E6AEDF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Magnetic beads</a:t>
            </a:r>
            <a:r>
              <a:rPr lang="en-GB" dirty="0"/>
              <a:t>: Automation-friendly (Beckman, </a:t>
            </a:r>
            <a:r>
              <a:rPr lang="en-GB" dirty="0" err="1"/>
              <a:t>Thermo</a:t>
            </a:r>
            <a:r>
              <a:rPr lang="en-GB" dirty="0"/>
              <a:t>)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7293165F-976B-3E45-6EE3-0F7DE726BCD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650"/>
          <a:stretch>
            <a:fillRect/>
          </a:stretch>
        </p:blipFill>
        <p:spPr bwMode="auto">
          <a:xfrm>
            <a:off x="838200" y="2880601"/>
            <a:ext cx="5464529" cy="3296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AMPure XP Beads | PCR &amp; NGS Library Cleanup">
            <a:extLst>
              <a:ext uri="{FF2B5EF4-FFF2-40B4-BE49-F238E27FC236}">
                <a16:creationId xmlns:a16="http://schemas.microsoft.com/office/drawing/2014/main" id="{87F1620C-D344-2CA2-F23B-0BAEA10CFB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5288" y="2598206"/>
            <a:ext cx="3894669" cy="3894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20214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F4856A-B3E0-9AF5-25A5-815364FE0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1FE0E9-F04A-2417-ADC2-DE454A13E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FFFFFF"/>
                </a:solidFill>
              </a:rPr>
              <a:t>Extraction Methods</a:t>
            </a:r>
            <a:endParaRPr lang="en-IT" b="1" dirty="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AD6AD4-C466-08E5-8127-D7B2F0815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GB" b="1" dirty="0"/>
              <a:t>Column-based kits</a:t>
            </a:r>
            <a:r>
              <a:rPr lang="en-GB" dirty="0"/>
              <a:t>: Fast, standardized (Qiagen, </a:t>
            </a:r>
            <a:r>
              <a:rPr lang="en-GB" dirty="0" err="1"/>
              <a:t>Zymo</a:t>
            </a:r>
            <a:r>
              <a:rPr lang="en-GB" dirty="0"/>
              <a:t>) </a:t>
            </a:r>
          </a:p>
          <a:p>
            <a:r>
              <a:rPr lang="en-GB" b="1" dirty="0"/>
              <a:t>Magnetic beads</a:t>
            </a:r>
            <a:r>
              <a:rPr lang="en-GB" dirty="0"/>
              <a:t>: Automation-friendly (Beckman, </a:t>
            </a:r>
            <a:r>
              <a:rPr lang="en-GB" dirty="0" err="1"/>
              <a:t>Thermo</a:t>
            </a:r>
            <a:r>
              <a:rPr lang="en-GB" dirty="0"/>
              <a:t>) </a:t>
            </a:r>
          </a:p>
          <a:p>
            <a:r>
              <a:rPr lang="en-GB" b="1" dirty="0"/>
              <a:t>Direct lysis</a:t>
            </a:r>
            <a:r>
              <a:rPr lang="en-GB" dirty="0"/>
              <a:t>: Minimal processing (good for single cells) </a:t>
            </a:r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r>
              <a:rPr lang="en-GB" b="1" dirty="0"/>
              <a:t>Trade-offs</a:t>
            </a:r>
            <a:r>
              <a:rPr lang="en-GB" dirty="0"/>
              <a:t>: Quality vs speed vs cost vs throughput</a:t>
            </a:r>
            <a:endParaRPr lang="en-IT" dirty="0"/>
          </a:p>
        </p:txBody>
      </p:sp>
    </p:spTree>
    <p:extLst>
      <p:ext uri="{BB962C8B-B14F-4D97-AF65-F5344CB8AC3E}">
        <p14:creationId xmlns:p14="http://schemas.microsoft.com/office/powerpoint/2010/main" val="1514934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EBE0B-B421-48F4-8211-04545792E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Next-Generation Sequencing">
            <a:extLst>
              <a:ext uri="{FF2B5EF4-FFF2-40B4-BE49-F238E27FC236}">
                <a16:creationId xmlns:a16="http://schemas.microsoft.com/office/drawing/2014/main" id="{E63AD476-BC78-7D1C-77D5-FAA6E6777E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73" r="43690"/>
          <a:stretch>
            <a:fillRect/>
          </a:stretch>
        </p:blipFill>
        <p:spPr bwMode="auto">
          <a:xfrm>
            <a:off x="3133549" y="112889"/>
            <a:ext cx="6202363" cy="7127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Next-Generation Sequencing">
            <a:extLst>
              <a:ext uri="{FF2B5EF4-FFF2-40B4-BE49-F238E27FC236}">
                <a16:creationId xmlns:a16="http://schemas.microsoft.com/office/drawing/2014/main" id="{8D748F62-D6EC-49BE-BEB8-3DD8CE96CA0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057" t="24856" b="48477"/>
          <a:stretch>
            <a:fillRect/>
          </a:stretch>
        </p:blipFill>
        <p:spPr bwMode="auto">
          <a:xfrm>
            <a:off x="8255529" y="-79022"/>
            <a:ext cx="3936471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B537E2-626C-52D3-AB03-93C5A22489BB}"/>
              </a:ext>
            </a:extLst>
          </p:cNvPr>
          <p:cNvSpPr txBox="1"/>
          <p:nvPr/>
        </p:nvSpPr>
        <p:spPr>
          <a:xfrm>
            <a:off x="8111509" y="5617330"/>
            <a:ext cx="4040150" cy="1200329"/>
          </a:xfrm>
          <a:prstGeom prst="rect">
            <a:avLst/>
          </a:prstGeom>
          <a:solidFill>
            <a:srgbClr val="F5CF3A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T" sz="3600" b="1" dirty="0"/>
              <a:t>Step 3: </a:t>
            </a:r>
          </a:p>
          <a:p>
            <a:pPr algn="ctr"/>
            <a:r>
              <a:rPr lang="en-IT" sz="3600" dirty="0"/>
              <a:t>Quality check</a:t>
            </a:r>
          </a:p>
        </p:txBody>
      </p:sp>
    </p:spTree>
    <p:extLst>
      <p:ext uri="{BB962C8B-B14F-4D97-AF65-F5344CB8AC3E}">
        <p14:creationId xmlns:p14="http://schemas.microsoft.com/office/powerpoint/2010/main" val="7721700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1250C1-240C-1ED9-7466-8BDBC20D4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GB" sz="4800" b="1" dirty="0"/>
              <a:t>Garbage in = Garbage out</a:t>
            </a:r>
            <a:r>
              <a:rPr lang="en-GB" sz="4800" dirty="0"/>
              <a:t> </a:t>
            </a:r>
          </a:p>
          <a:p>
            <a:pPr marL="0" indent="0" algn="ctr">
              <a:buNone/>
            </a:pPr>
            <a:r>
              <a:rPr lang="en-GB" sz="4800" dirty="0"/>
              <a:t>no matter how good your sequencer is</a:t>
            </a:r>
            <a:endParaRPr lang="en-IT" sz="4800" dirty="0"/>
          </a:p>
        </p:txBody>
      </p:sp>
    </p:spTree>
    <p:extLst>
      <p:ext uri="{BB962C8B-B14F-4D97-AF65-F5344CB8AC3E}">
        <p14:creationId xmlns:p14="http://schemas.microsoft.com/office/powerpoint/2010/main" val="7767830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C608BEB-860E-4094-8511-78603564A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050" cy="68580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C9EC07-A3CD-C184-81A6-5FF014777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2488"/>
            <a:ext cx="2899189" cy="4363844"/>
          </a:xfrm>
        </p:spPr>
        <p:txBody>
          <a:bodyPr anchor="t">
            <a:normAutofit/>
          </a:bodyPr>
          <a:lstStyle/>
          <a:p>
            <a:r>
              <a:rPr lang="en-GB" sz="3400" b="1">
                <a:solidFill>
                  <a:srgbClr val="FFFFFF"/>
                </a:solidFill>
              </a:rPr>
              <a:t>Extraction Quality Requirements</a:t>
            </a:r>
            <a:endParaRPr lang="en-IT" sz="3400" b="1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34495-117D-1C29-FAB4-4F297D9CC9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80855" y="1412489"/>
            <a:ext cx="3427283" cy="43638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b="1" dirty="0"/>
              <a:t>DNA requirements</a:t>
            </a:r>
            <a:r>
              <a:rPr lang="en-GB" sz="2400" dirty="0"/>
              <a:t>:</a:t>
            </a:r>
          </a:p>
          <a:p>
            <a:r>
              <a:rPr lang="en-US" sz="2400" dirty="0"/>
              <a:t>ng - µg (depends on application)</a:t>
            </a:r>
            <a:endParaRPr lang="en-GB" sz="2400" dirty="0"/>
          </a:p>
          <a:p>
            <a:pPr marL="0" indent="0">
              <a:buNone/>
            </a:pPr>
            <a:endParaRPr lang="en-IT" sz="20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F16A8D4-FE87-4604-88B2-394B5D1EB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29871" y="1412488"/>
            <a:ext cx="0" cy="36576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0AA8BD-F39F-0F77-27DA-82E25B989C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51604" y="1412489"/>
            <a:ext cx="3197701" cy="43638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b="1" dirty="0"/>
              <a:t>RNA requirements</a:t>
            </a:r>
            <a:r>
              <a:rPr lang="en-GB" sz="2400" dirty="0"/>
              <a:t>: </a:t>
            </a:r>
          </a:p>
          <a:p>
            <a:r>
              <a:rPr lang="en-GB" sz="2400" dirty="0"/>
              <a:t>ng - </a:t>
            </a:r>
            <a:r>
              <a:rPr lang="el-GR" sz="2400" dirty="0"/>
              <a:t>μ</a:t>
            </a:r>
            <a:r>
              <a:rPr lang="en-GB" sz="2400" dirty="0"/>
              <a:t>g (depends on application)</a:t>
            </a:r>
          </a:p>
          <a:p>
            <a:endParaRPr lang="en-GB" sz="2000" dirty="0"/>
          </a:p>
          <a:p>
            <a:endParaRPr lang="en-IT" sz="2000" dirty="0"/>
          </a:p>
        </p:txBody>
      </p:sp>
    </p:spTree>
    <p:extLst>
      <p:ext uri="{BB962C8B-B14F-4D97-AF65-F5344CB8AC3E}">
        <p14:creationId xmlns:p14="http://schemas.microsoft.com/office/powerpoint/2010/main" val="27147437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781C4B-59E4-19C5-5BA4-C72B38F5B2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T" sz="4400" b="1" dirty="0"/>
              <a:t>   No degradation</a:t>
            </a:r>
          </a:p>
          <a:p>
            <a:r>
              <a:rPr lang="en-IT" sz="4400" b="1" dirty="0"/>
              <a:t>   No contamination</a:t>
            </a:r>
          </a:p>
          <a:p>
            <a:r>
              <a:rPr lang="en-IT" sz="4400" b="1" dirty="0"/>
              <a:t>   Sufficient amounts</a:t>
            </a:r>
          </a:p>
        </p:txBody>
      </p:sp>
      <p:pic>
        <p:nvPicPr>
          <p:cNvPr id="1026" name="Picture 2" descr="🙏 Folded Hands Emoji: Meaning &amp; Usage">
            <a:extLst>
              <a:ext uri="{FF2B5EF4-FFF2-40B4-BE49-F238E27FC236}">
                <a16:creationId xmlns:a16="http://schemas.microsoft.com/office/drawing/2014/main" id="{8D3F2588-CD8A-E7B5-B5B3-E7D4D99977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9306" y="1586753"/>
            <a:ext cx="3684494" cy="3684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57577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B59D0-E9A8-C82F-3F17-9D9F9CAE3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A9249-C971-4461-7EA4-AA20DD3F9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chemeClr val="accent2"/>
                </a:solidFill>
              </a:rPr>
              <a:t>Concentration</a:t>
            </a:r>
            <a:endParaRPr lang="en-IT" b="1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BB9D41-4C70-8811-F4B1-8CEF480E5FA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3600" b="1" dirty="0"/>
              <a:t>ng</a:t>
            </a:r>
            <a:r>
              <a:rPr lang="en-IT" sz="3600" b="1" dirty="0"/>
              <a:t>/µL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D0580C-CE2B-434D-5BFB-47A42B2797FE}"/>
              </a:ext>
            </a:extLst>
          </p:cNvPr>
          <p:cNvSpPr txBox="1"/>
          <p:nvPr/>
        </p:nvSpPr>
        <p:spPr>
          <a:xfrm>
            <a:off x="2861704" y="2607621"/>
            <a:ext cx="303533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sz="8800" dirty="0"/>
              <a:t>Qubit – Yes!</a:t>
            </a:r>
          </a:p>
        </p:txBody>
      </p:sp>
      <p:pic>
        <p:nvPicPr>
          <p:cNvPr id="8194" name="Picture 2" descr="Invitrogen Qubit Flex Starter Packages:Spectroscopy:Fluorometers | Fisher  Scientific">
            <a:extLst>
              <a:ext uri="{FF2B5EF4-FFF2-40B4-BE49-F238E27FC236}">
                <a16:creationId xmlns:a16="http://schemas.microsoft.com/office/drawing/2014/main" id="{D99B127D-9861-3972-2C76-599547E5BF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0889" y="2279819"/>
            <a:ext cx="3534128" cy="3262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40090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D8CD5-07C4-9183-EEDD-A4112770D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D329E-E53B-1C20-E4E0-B446D1740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chemeClr val="accent2"/>
                </a:solidFill>
              </a:rPr>
              <a:t>Concentration</a:t>
            </a:r>
            <a:endParaRPr lang="en-IT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103896-52FE-F8CE-DC0D-805113AA0C5E}"/>
              </a:ext>
            </a:extLst>
          </p:cNvPr>
          <p:cNvSpPr txBox="1"/>
          <p:nvPr/>
        </p:nvSpPr>
        <p:spPr>
          <a:xfrm>
            <a:off x="1326415" y="2369931"/>
            <a:ext cx="5413052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sz="8800" dirty="0"/>
              <a:t>Nanodrop – No!</a:t>
            </a:r>
          </a:p>
        </p:txBody>
      </p:sp>
      <p:pic>
        <p:nvPicPr>
          <p:cNvPr id="9218" name="Picture 2" descr="Spectrophotometer NanoDrop 8000">
            <a:extLst>
              <a:ext uri="{FF2B5EF4-FFF2-40B4-BE49-F238E27FC236}">
                <a16:creationId xmlns:a16="http://schemas.microsoft.com/office/drawing/2014/main" id="{DCF62EA6-66B5-C353-F0D3-64EAAB9BD0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5000" y="2437023"/>
            <a:ext cx="3098800" cy="309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🙄 Face with Rolling Eyes on Apple iOS 11.1">
            <a:extLst>
              <a:ext uri="{FF2B5EF4-FFF2-40B4-BE49-F238E27FC236}">
                <a16:creationId xmlns:a16="http://schemas.microsoft.com/office/drawing/2014/main" id="{6D48584A-1E7B-6577-4384-407E924D70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0633" y="2437023"/>
            <a:ext cx="2032000" cy="20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31248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C76B9A-7719-2A95-C15D-E80EA6471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C608BEB-860E-4094-8511-78603564A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050" cy="68580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88B922-C56C-1423-8B71-2103A1BA1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2488"/>
            <a:ext cx="2899189" cy="4363844"/>
          </a:xfrm>
        </p:spPr>
        <p:txBody>
          <a:bodyPr anchor="t">
            <a:normAutofit/>
          </a:bodyPr>
          <a:lstStyle/>
          <a:p>
            <a:r>
              <a:rPr lang="en-GB" sz="3400" b="1">
                <a:solidFill>
                  <a:srgbClr val="FFFFFF"/>
                </a:solidFill>
              </a:rPr>
              <a:t>Extraction Quality Requirements</a:t>
            </a:r>
            <a:endParaRPr lang="en-IT" sz="3400" b="1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4D34D0-DFAC-51EE-C98C-0528BF3326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80855" y="1412489"/>
            <a:ext cx="3427283" cy="43638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b="1" dirty="0"/>
              <a:t>DNA requirements</a:t>
            </a:r>
            <a:r>
              <a:rPr lang="en-GB" sz="2400" dirty="0"/>
              <a:t>:</a:t>
            </a:r>
          </a:p>
          <a:p>
            <a:r>
              <a:rPr lang="en-US" sz="2400" dirty="0"/>
              <a:t>ng - µg </a:t>
            </a:r>
            <a:r>
              <a:rPr lang="en-GB" sz="2400" dirty="0"/>
              <a:t>(depends on application)</a:t>
            </a:r>
          </a:p>
          <a:p>
            <a:r>
              <a:rPr lang="en-GB" sz="2400" dirty="0"/>
              <a:t>Minimal degradation (DIN score &gt;7)</a:t>
            </a:r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endParaRPr lang="en-IT" sz="20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F16A8D4-FE87-4604-88B2-394B5D1EB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29871" y="1412488"/>
            <a:ext cx="0" cy="36576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295FB2-D477-B8E2-A505-9FDA105211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51604" y="1412489"/>
            <a:ext cx="3197701" cy="43638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b="1" dirty="0"/>
              <a:t>RNA requirements</a:t>
            </a:r>
            <a:r>
              <a:rPr lang="en-GB" sz="2400" dirty="0"/>
              <a:t>: </a:t>
            </a:r>
          </a:p>
          <a:p>
            <a:r>
              <a:rPr lang="en-GB" sz="2400" dirty="0"/>
              <a:t>ng - </a:t>
            </a:r>
            <a:r>
              <a:rPr lang="el-GR" sz="2400" dirty="0"/>
              <a:t>μ</a:t>
            </a:r>
            <a:r>
              <a:rPr lang="en-GB" sz="2400" dirty="0"/>
              <a:t>g (depends on application)</a:t>
            </a:r>
          </a:p>
          <a:p>
            <a:r>
              <a:rPr lang="en-GB" sz="2400" dirty="0"/>
              <a:t>RIN score &gt;7 (ideally &gt;8)</a:t>
            </a:r>
          </a:p>
          <a:p>
            <a:r>
              <a:rPr lang="en-GB" sz="2400" dirty="0"/>
              <a:t>No DNA contamination!!</a:t>
            </a:r>
          </a:p>
          <a:p>
            <a:endParaRPr lang="en-GB" sz="2000" dirty="0"/>
          </a:p>
          <a:p>
            <a:endParaRPr lang="en-GB" sz="2000" dirty="0"/>
          </a:p>
          <a:p>
            <a:endParaRPr lang="en-IT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858E5A-AA3C-BF98-D134-62FA1FA008EE}"/>
              </a:ext>
            </a:extLst>
          </p:cNvPr>
          <p:cNvSpPr txBox="1"/>
          <p:nvPr/>
        </p:nvSpPr>
        <p:spPr>
          <a:xfrm>
            <a:off x="4257176" y="5445511"/>
            <a:ext cx="77453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T" sz="3600" b="1" dirty="0"/>
              <a:t>DIN/RIN </a:t>
            </a:r>
            <a:r>
              <a:rPr lang="en-IT" sz="3600" dirty="0"/>
              <a:t>= </a:t>
            </a:r>
            <a:r>
              <a:rPr lang="en-IT" sz="3600" b="1" u="sng" dirty="0"/>
              <a:t>D</a:t>
            </a:r>
            <a:r>
              <a:rPr lang="en-IT" sz="3600" dirty="0"/>
              <a:t>NA/</a:t>
            </a:r>
            <a:r>
              <a:rPr lang="en-IT" sz="3600" b="1" u="sng" dirty="0"/>
              <a:t>R</a:t>
            </a:r>
            <a:r>
              <a:rPr lang="en-IT" sz="3600" dirty="0"/>
              <a:t>NA </a:t>
            </a:r>
            <a:r>
              <a:rPr lang="en-IT" sz="3600" u="sng" dirty="0"/>
              <a:t>I</a:t>
            </a:r>
            <a:r>
              <a:rPr lang="en-IT" sz="3600" dirty="0"/>
              <a:t>ntegrity </a:t>
            </a:r>
            <a:r>
              <a:rPr lang="en-IT" sz="3600" b="1" u="sng" dirty="0"/>
              <a:t>N</a:t>
            </a:r>
            <a:r>
              <a:rPr lang="en-IT" sz="3600" dirty="0"/>
              <a:t>umber</a:t>
            </a:r>
          </a:p>
        </p:txBody>
      </p:sp>
    </p:spTree>
    <p:extLst>
      <p:ext uri="{BB962C8B-B14F-4D97-AF65-F5344CB8AC3E}">
        <p14:creationId xmlns:p14="http://schemas.microsoft.com/office/powerpoint/2010/main" val="7809798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AA5EE-F308-31CA-62BC-38E0A0436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IT" dirty="0"/>
              <a:t>Which </a:t>
            </a:r>
            <a:r>
              <a:rPr lang="en-IT" b="1" dirty="0"/>
              <a:t>RNA </a:t>
            </a:r>
            <a:r>
              <a:rPr lang="en-IT" dirty="0"/>
              <a:t>do we need for conventional </a:t>
            </a:r>
            <a:r>
              <a:rPr lang="en-IT" b="1" dirty="0"/>
              <a:t>RNA-Seq</a:t>
            </a:r>
            <a:r>
              <a:rPr lang="en-IT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506249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3B5B4-6EB5-97E6-5214-393D49630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b="1" dirty="0"/>
              <a:t>1-5% of total RNA</a:t>
            </a:r>
          </a:p>
        </p:txBody>
      </p:sp>
      <p:pic>
        <p:nvPicPr>
          <p:cNvPr id="28674" name="Picture 2" descr="mRNA, tRNA and rRNA | Structure and Function | What are different types of  RNA? | Biochemistry">
            <a:extLst>
              <a:ext uri="{FF2B5EF4-FFF2-40B4-BE49-F238E27FC236}">
                <a16:creationId xmlns:a16="http://schemas.microsoft.com/office/drawing/2014/main" id="{B96A2A0E-5063-B11A-C495-8099A93E04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52" r="31111" b="50000"/>
          <a:stretch>
            <a:fillRect/>
          </a:stretch>
        </p:blipFill>
        <p:spPr bwMode="auto">
          <a:xfrm>
            <a:off x="198850" y="2208477"/>
            <a:ext cx="11794300" cy="24410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63835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BF7BC-4FB6-54FB-4A23-DC37FA0E9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CF0FAF-790F-C991-4679-6672E01C9E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T"/>
          </a:p>
        </p:txBody>
      </p:sp>
      <p:pic>
        <p:nvPicPr>
          <p:cNvPr id="29698" name="Picture 2" descr="mRNA, tRNA and rRNA | Structure and Function | What are different types of  RNA? | Biochemistry">
            <a:extLst>
              <a:ext uri="{FF2B5EF4-FFF2-40B4-BE49-F238E27FC236}">
                <a16:creationId xmlns:a16="http://schemas.microsoft.com/office/drawing/2014/main" id="{A1145358-61B7-3C88-4BAE-9844D37978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870" t="47407" r="32130"/>
          <a:stretch>
            <a:fillRect/>
          </a:stretch>
        </p:blipFill>
        <p:spPr bwMode="auto">
          <a:xfrm>
            <a:off x="3889022" y="164513"/>
            <a:ext cx="4413956" cy="6528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30172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9E638-5C3F-DF56-CA3B-06570E397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A90E96-0ECC-C90C-0BE6-779C04204E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T"/>
          </a:p>
        </p:txBody>
      </p:sp>
      <p:pic>
        <p:nvPicPr>
          <p:cNvPr id="2050" name="Picture 2" descr="RNA quality assessment. RNA from high quality and degraded samples was... |  Download Scientific Diagram">
            <a:extLst>
              <a:ext uri="{FF2B5EF4-FFF2-40B4-BE49-F238E27FC236}">
                <a16:creationId xmlns:a16="http://schemas.microsoft.com/office/drawing/2014/main" id="{F3F888BD-BDC3-40D3-CDDA-E75FA10ECD6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40" t="5324" b="52922"/>
          <a:stretch>
            <a:fillRect/>
          </a:stretch>
        </p:blipFill>
        <p:spPr bwMode="auto">
          <a:xfrm>
            <a:off x="1501782" y="749740"/>
            <a:ext cx="9188436" cy="5358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03674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797E7-7855-FDAE-570E-713F650D9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2D16D-FA4A-E3B3-EEAD-A6A621D54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3A39FE-239D-463F-8649-AC5D583912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T"/>
          </a:p>
        </p:txBody>
      </p:sp>
      <p:pic>
        <p:nvPicPr>
          <p:cNvPr id="2050" name="Picture 2" descr="RNA quality assessment. RNA from high quality and degraded samples was... |  Download Scientific Diagram">
            <a:extLst>
              <a:ext uri="{FF2B5EF4-FFF2-40B4-BE49-F238E27FC236}">
                <a16:creationId xmlns:a16="http://schemas.microsoft.com/office/drawing/2014/main" id="{77DF80E9-39E7-914F-2813-6DFA8E25B6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275" y="0"/>
            <a:ext cx="88058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47918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3DC60-C9F9-18E8-5597-12BBCB913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78A14-0706-8203-345F-24B41A7850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T"/>
          </a:p>
        </p:txBody>
      </p:sp>
      <p:pic>
        <p:nvPicPr>
          <p:cNvPr id="1028" name="Picture 4" descr="Total RNA quality control. A+B) Represents good quality total RNA after...  | Download Scientific Diagram">
            <a:extLst>
              <a:ext uri="{FF2B5EF4-FFF2-40B4-BE49-F238E27FC236}">
                <a16:creationId xmlns:a16="http://schemas.microsoft.com/office/drawing/2014/main" id="{753D1B40-D20A-49CD-359A-5CB0CA9FB8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4681" y="0"/>
            <a:ext cx="88185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22698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324D2-48EE-B115-3242-7F0461362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b="1" dirty="0">
                <a:solidFill>
                  <a:schemeClr val="accent5"/>
                </a:solidFill>
              </a:rPr>
              <a:t>Degradation and sizes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59A4E6-F16F-2852-4A2A-22E4B75469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9782"/>
            <a:ext cx="10515600" cy="4351338"/>
          </a:xfrm>
        </p:spPr>
        <p:txBody>
          <a:bodyPr/>
          <a:lstStyle/>
          <a:p>
            <a:r>
              <a:rPr lang="en-IT" dirty="0"/>
              <a:t>Microfluidic capillary gel electrophoresis</a:t>
            </a:r>
          </a:p>
        </p:txBody>
      </p:sp>
      <p:pic>
        <p:nvPicPr>
          <p:cNvPr id="12292" name="Picture 4" descr="LabChip® Service - Massey University">
            <a:extLst>
              <a:ext uri="{FF2B5EF4-FFF2-40B4-BE49-F238E27FC236}">
                <a16:creationId xmlns:a16="http://schemas.microsoft.com/office/drawing/2014/main" id="{729F50F6-4B30-9C34-1AA8-3BF6C8F323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823" y="2993319"/>
            <a:ext cx="3499556" cy="3499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5C8A258-7501-DB15-B545-586C550365B8}"/>
              </a:ext>
            </a:extLst>
          </p:cNvPr>
          <p:cNvSpPr txBox="1"/>
          <p:nvPr/>
        </p:nvSpPr>
        <p:spPr>
          <a:xfrm>
            <a:off x="1138937" y="2993319"/>
            <a:ext cx="20828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sz="2000" b="1" dirty="0"/>
              <a:t>LabChip (Revity)</a:t>
            </a:r>
          </a:p>
        </p:txBody>
      </p:sp>
      <p:pic>
        <p:nvPicPr>
          <p:cNvPr id="12294" name="Picture 6" descr="Bioanalyzer | Centro Servizi B.R.I.T.">
            <a:extLst>
              <a:ext uri="{FF2B5EF4-FFF2-40B4-BE49-F238E27FC236}">
                <a16:creationId xmlns:a16="http://schemas.microsoft.com/office/drawing/2014/main" id="{F349A4EE-FA96-A276-A31F-AE7F25BF5B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8623" y="3714218"/>
            <a:ext cx="3606977" cy="2940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6A1298D-6C2E-7D80-A25C-FA342929E68B}"/>
              </a:ext>
            </a:extLst>
          </p:cNvPr>
          <p:cNvSpPr txBox="1"/>
          <p:nvPr/>
        </p:nvSpPr>
        <p:spPr>
          <a:xfrm>
            <a:off x="9057893" y="3365069"/>
            <a:ext cx="25718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sz="2000" b="1" dirty="0"/>
              <a:t>Bioanalyzer (Agilent)</a:t>
            </a:r>
          </a:p>
        </p:txBody>
      </p:sp>
      <p:pic>
        <p:nvPicPr>
          <p:cNvPr id="12296" name="Picture 8" descr="TapeStation Automated Electrophoresis for DNA &amp; RNA Quality Control |  Agilent">
            <a:extLst>
              <a:ext uri="{FF2B5EF4-FFF2-40B4-BE49-F238E27FC236}">
                <a16:creationId xmlns:a16="http://schemas.microsoft.com/office/drawing/2014/main" id="{03353FA7-70F2-39A0-38F1-5455339F69E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57" r="13430"/>
          <a:stretch>
            <a:fillRect/>
          </a:stretch>
        </p:blipFill>
        <p:spPr bwMode="auto">
          <a:xfrm>
            <a:off x="3759200" y="4508923"/>
            <a:ext cx="4933244" cy="1983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4D25A7D-6B81-7EE3-A8FD-9D683E6654BF}"/>
              </a:ext>
            </a:extLst>
          </p:cNvPr>
          <p:cNvSpPr txBox="1"/>
          <p:nvPr/>
        </p:nvSpPr>
        <p:spPr>
          <a:xfrm>
            <a:off x="5006097" y="3911516"/>
            <a:ext cx="25961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sz="2000" b="1" dirty="0"/>
              <a:t>TapeStation (Agilent)</a:t>
            </a:r>
          </a:p>
        </p:txBody>
      </p:sp>
    </p:spTree>
    <p:extLst>
      <p:ext uri="{BB962C8B-B14F-4D97-AF65-F5344CB8AC3E}">
        <p14:creationId xmlns:p14="http://schemas.microsoft.com/office/powerpoint/2010/main" val="29273840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  <p:bldP spid="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E1BEB12-92AF-4445-98AD-4C7756E7C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522C2C-7B5C-48A7-A969-03941E5D2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69476" y="220196"/>
            <a:ext cx="9422524" cy="6637806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6EE29F2-D77F-4BD0-A20B-334D316A1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09800" y="2099696"/>
            <a:ext cx="1942241" cy="188955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22D09ED2-868F-42C6-866E-F92E0CEF3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520172">
            <a:off x="1613162" y="1492572"/>
            <a:ext cx="2987899" cy="2987899"/>
          </a:xfrm>
          <a:prstGeom prst="arc">
            <a:avLst>
              <a:gd name="adj1" fmla="val 14455503"/>
              <a:gd name="adj2" fmla="val 227775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C644B9-26F1-51B9-D042-EC78F3121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1939159"/>
            <a:ext cx="7644627" cy="275108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60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Case 1: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2FC0F-099A-3451-34F3-370EDC255A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8600" y="4782320"/>
            <a:ext cx="7644627" cy="1329443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r">
              <a:buNone/>
            </a:pPr>
            <a:r>
              <a:rPr lang="en-US" sz="4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Low sample concentration</a:t>
            </a:r>
          </a:p>
        </p:txBody>
      </p:sp>
    </p:spTree>
    <p:extLst>
      <p:ext uri="{BB962C8B-B14F-4D97-AF65-F5344CB8AC3E}">
        <p14:creationId xmlns:p14="http://schemas.microsoft.com/office/powerpoint/2010/main" val="40567531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304A98-2118-9C69-D0E5-C99002BA3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E1BEB12-92AF-4445-98AD-4C7756E7C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522C2C-7B5C-48A7-A969-03941E5D2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69476" y="220196"/>
            <a:ext cx="9422524" cy="6637806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6EE29F2-D77F-4BD0-A20B-334D316A1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09800" y="2099696"/>
            <a:ext cx="1942241" cy="188955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22D09ED2-868F-42C6-866E-F92E0CEF3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520172">
            <a:off x="1613162" y="1492572"/>
            <a:ext cx="2987899" cy="2987899"/>
          </a:xfrm>
          <a:prstGeom prst="arc">
            <a:avLst>
              <a:gd name="adj1" fmla="val 14455503"/>
              <a:gd name="adj2" fmla="val 227775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123C0C-8A19-30FA-4117-0A582EB42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1939159"/>
            <a:ext cx="7644627" cy="275108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60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Case 2: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3BD5BA-D16C-D341-7AE4-E048FB5B9E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8600" y="4782320"/>
            <a:ext cx="7644627" cy="1329443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r">
              <a:buNone/>
            </a:pPr>
            <a:r>
              <a:rPr lang="en-US" sz="4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Sample is degraded</a:t>
            </a:r>
          </a:p>
        </p:txBody>
      </p:sp>
    </p:spTree>
    <p:extLst>
      <p:ext uri="{BB962C8B-B14F-4D97-AF65-F5344CB8AC3E}">
        <p14:creationId xmlns:p14="http://schemas.microsoft.com/office/powerpoint/2010/main" val="31241623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4FB49E-C609-AC43-698A-0F2AD64E9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E1BEB12-92AF-4445-98AD-4C7756E7C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522C2C-7B5C-48A7-A969-03941E5D2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69476" y="220196"/>
            <a:ext cx="9422524" cy="6637806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6EE29F2-D77F-4BD0-A20B-334D316A1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09800" y="2099696"/>
            <a:ext cx="1942241" cy="188955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22D09ED2-868F-42C6-866E-F92E0CEF3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520172">
            <a:off x="1613162" y="1492572"/>
            <a:ext cx="2987899" cy="2987899"/>
          </a:xfrm>
          <a:prstGeom prst="arc">
            <a:avLst>
              <a:gd name="adj1" fmla="val 14455503"/>
              <a:gd name="adj2" fmla="val 227775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1114F3-9CDC-20C3-D3D3-AF85F2FA1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1939159"/>
            <a:ext cx="7644627" cy="275108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60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Case 3: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AA95C-FED6-2244-BED2-D1359C2C1C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8600" y="4782320"/>
            <a:ext cx="7644627" cy="1329443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r">
              <a:buNone/>
            </a:pPr>
            <a:r>
              <a:rPr lang="en-US" sz="4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Sample is contaminated</a:t>
            </a:r>
          </a:p>
        </p:txBody>
      </p:sp>
    </p:spTree>
    <p:extLst>
      <p:ext uri="{BB962C8B-B14F-4D97-AF65-F5344CB8AC3E}">
        <p14:creationId xmlns:p14="http://schemas.microsoft.com/office/powerpoint/2010/main" val="7929339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0BAE2-AB87-21DA-5E94-E917C95CD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Next-Generation Sequencing">
            <a:extLst>
              <a:ext uri="{FF2B5EF4-FFF2-40B4-BE49-F238E27FC236}">
                <a16:creationId xmlns:a16="http://schemas.microsoft.com/office/drawing/2014/main" id="{C1D707C4-C469-1FB7-B4A9-9D0D0521230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73" r="43690"/>
          <a:stretch>
            <a:fillRect/>
          </a:stretch>
        </p:blipFill>
        <p:spPr bwMode="auto">
          <a:xfrm>
            <a:off x="3133549" y="112889"/>
            <a:ext cx="6202363" cy="7127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CBF4B4E-2445-3341-42D1-7FB3959E7F69}"/>
              </a:ext>
            </a:extLst>
          </p:cNvPr>
          <p:cNvSpPr txBox="1"/>
          <p:nvPr/>
        </p:nvSpPr>
        <p:spPr>
          <a:xfrm>
            <a:off x="8124956" y="5630777"/>
            <a:ext cx="4040150" cy="1200329"/>
          </a:xfrm>
          <a:prstGeom prst="rect">
            <a:avLst/>
          </a:prstGeom>
          <a:solidFill>
            <a:srgbClr val="74C18B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T" sz="3600" b="1" dirty="0"/>
              <a:t>Step 4: </a:t>
            </a:r>
          </a:p>
          <a:p>
            <a:pPr algn="ctr"/>
            <a:r>
              <a:rPr lang="en-IT" sz="3600" dirty="0"/>
              <a:t>Library preparation</a:t>
            </a:r>
          </a:p>
        </p:txBody>
      </p:sp>
    </p:spTree>
    <p:extLst>
      <p:ext uri="{BB962C8B-B14F-4D97-AF65-F5344CB8AC3E}">
        <p14:creationId xmlns:p14="http://schemas.microsoft.com/office/powerpoint/2010/main" val="23483901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7947C-2531-275C-6C4C-D180BE219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b="1" dirty="0">
                <a:solidFill>
                  <a:schemeClr val="accent6">
                    <a:lumMod val="75000"/>
                  </a:schemeClr>
                </a:solidFill>
              </a:rPr>
              <a:t>Library preparation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4782BE-C1B0-45FD-70A7-A88595722A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dirty="0"/>
              <a:t>- converting (</a:t>
            </a:r>
            <a:r>
              <a:rPr lang="en-GB" b="1" dirty="0"/>
              <a:t>preparing</a:t>
            </a:r>
            <a:r>
              <a:rPr lang="en-GB" dirty="0"/>
              <a:t>) nucleic acid samples (RNA / DNA) into a set (</a:t>
            </a:r>
            <a:r>
              <a:rPr lang="en-GB" b="1" dirty="0"/>
              <a:t>library</a:t>
            </a:r>
            <a:r>
              <a:rPr lang="en-GB" dirty="0"/>
              <a:t>) of uniformly sized, adapter-ligated DNA fragments, which can then be sequenced using an NGS instrument.</a:t>
            </a:r>
            <a:endParaRPr lang="en-IT" dirty="0"/>
          </a:p>
        </p:txBody>
      </p:sp>
    </p:spTree>
    <p:extLst>
      <p:ext uri="{BB962C8B-B14F-4D97-AF65-F5344CB8AC3E}">
        <p14:creationId xmlns:p14="http://schemas.microsoft.com/office/powerpoint/2010/main" val="29132695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5E07C-89BB-AEF2-DCB7-25C244C43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chemeClr val="accent2"/>
                </a:solidFill>
              </a:rPr>
              <a:t>Why Library Prep is THE Critical Step</a:t>
            </a:r>
            <a:endParaRPr lang="en-IT" b="1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02F08B-186D-CCF7-8E65-4104BABDAC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3200" b="1" dirty="0"/>
              <a:t>70% of failed NGS experiments</a:t>
            </a:r>
            <a:r>
              <a:rPr lang="en-GB" sz="3200" dirty="0"/>
              <a:t> = library prep issues </a:t>
            </a:r>
          </a:p>
          <a:p>
            <a:r>
              <a:rPr lang="en-GB" sz="3200" b="1" dirty="0"/>
              <a:t>Good library prep</a:t>
            </a:r>
            <a:r>
              <a:rPr lang="en-GB" sz="3200" dirty="0"/>
              <a:t> can salvage poor samples </a:t>
            </a:r>
          </a:p>
          <a:p>
            <a:r>
              <a:rPr lang="en-GB" sz="3200" b="1" dirty="0"/>
              <a:t>Bad library prep</a:t>
            </a:r>
            <a:r>
              <a:rPr lang="en-GB" sz="3200" dirty="0"/>
              <a:t> ruins even perfect samples</a:t>
            </a:r>
            <a:endParaRPr lang="en-IT" sz="3200" dirty="0"/>
          </a:p>
        </p:txBody>
      </p:sp>
    </p:spTree>
    <p:extLst>
      <p:ext uri="{BB962C8B-B14F-4D97-AF65-F5344CB8AC3E}">
        <p14:creationId xmlns:p14="http://schemas.microsoft.com/office/powerpoint/2010/main" val="17996729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922B6-F67E-574B-AB25-3D1CFB479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Library Architecture: The Universal Design</a:t>
            </a:r>
            <a:endParaRPr lang="en-IT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799186-B10C-0107-E793-99AEBD6BAE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b"/>
          <a:lstStyle/>
          <a:p>
            <a:r>
              <a:rPr lang="en-GB" b="1" dirty="0"/>
              <a:t>P5/P7 adapters</a:t>
            </a:r>
            <a:r>
              <a:rPr lang="en-GB" dirty="0"/>
              <a:t>: Platform-specific sequences for flow cell binding </a:t>
            </a:r>
          </a:p>
          <a:p>
            <a:r>
              <a:rPr lang="en-GB" b="1" dirty="0"/>
              <a:t>Indexes/Barcodes</a:t>
            </a:r>
            <a:r>
              <a:rPr lang="en-GB" dirty="0"/>
              <a:t>: Sample identification sequences </a:t>
            </a:r>
          </a:p>
          <a:p>
            <a:r>
              <a:rPr lang="en-GB" b="1" dirty="0"/>
              <a:t>Insert</a:t>
            </a:r>
            <a:r>
              <a:rPr lang="en-GB" dirty="0"/>
              <a:t>: Your actual sample DNA/cDNA </a:t>
            </a:r>
          </a:p>
          <a:p>
            <a:r>
              <a:rPr lang="en-GB" b="1" dirty="0"/>
              <a:t>Read primers</a:t>
            </a:r>
            <a:r>
              <a:rPr lang="en-GB" dirty="0"/>
              <a:t>: Enable sequencing chemistry</a:t>
            </a:r>
            <a:endParaRPr lang="en-IT" dirty="0"/>
          </a:p>
        </p:txBody>
      </p:sp>
      <p:pic>
        <p:nvPicPr>
          <p:cNvPr id="4" name="Picture 2" descr="Frequently Asked Questions: UMM Universitätsmedizin Mannheim">
            <a:extLst>
              <a:ext uri="{FF2B5EF4-FFF2-40B4-BE49-F238E27FC236}">
                <a16:creationId xmlns:a16="http://schemas.microsoft.com/office/drawing/2014/main" id="{5DA533FD-D81C-6EC0-A1AB-C4945368D18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289"/>
          <a:stretch>
            <a:fillRect/>
          </a:stretch>
        </p:blipFill>
        <p:spPr bwMode="auto">
          <a:xfrm>
            <a:off x="484547" y="1337116"/>
            <a:ext cx="11222905" cy="2664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79666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3C21F-1821-AE41-C00A-B1A46B6E9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b="1" dirty="0"/>
              <a:t>Single-indexed / Dual-indexed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EEE038-D744-D5F2-A268-56FEFE6B3A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T"/>
          </a:p>
        </p:txBody>
      </p:sp>
      <p:pic>
        <p:nvPicPr>
          <p:cNvPr id="14338" name="Picture 2" descr="Frequently Asked Questions: UMM Universitätsmedizin Mannheim">
            <a:extLst>
              <a:ext uri="{FF2B5EF4-FFF2-40B4-BE49-F238E27FC236}">
                <a16:creationId xmlns:a16="http://schemas.microsoft.com/office/drawing/2014/main" id="{36D737DA-AF77-3458-C0D8-89125EAE009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946"/>
          <a:stretch>
            <a:fillRect/>
          </a:stretch>
        </p:blipFill>
        <p:spPr bwMode="auto">
          <a:xfrm>
            <a:off x="1804193" y="4065853"/>
            <a:ext cx="8583613" cy="1992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Frequently Asked Questions: UMM Universitätsmedizin Mannheim">
            <a:extLst>
              <a:ext uri="{FF2B5EF4-FFF2-40B4-BE49-F238E27FC236}">
                <a16:creationId xmlns:a16="http://schemas.microsoft.com/office/drawing/2014/main" id="{52852F2D-DAA1-7A6E-F786-89B09AB41E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72" b="54074"/>
          <a:stretch>
            <a:fillRect/>
          </a:stretch>
        </p:blipFill>
        <p:spPr bwMode="auto">
          <a:xfrm>
            <a:off x="1804193" y="1690688"/>
            <a:ext cx="8583613" cy="1992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25689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5FFF3-26E9-41F8-F0BF-9D37E72FD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Flow-cell adapters (P5/P7)</a:t>
            </a:r>
            <a:endParaRPr lang="en-IT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53C108-0998-72DF-B2B7-C29D2326A8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Complementary to oligos on flow cell surface</a:t>
            </a:r>
          </a:p>
          <a:p>
            <a:r>
              <a:rPr lang="en-GB" dirty="0"/>
              <a:t>Enable cluster generation/amplification</a:t>
            </a:r>
          </a:p>
          <a:p>
            <a:r>
              <a:rPr lang="en-GB" dirty="0"/>
              <a:t>Platform-specific (Illumina vs Ion Torrent vs etc.)</a:t>
            </a:r>
          </a:p>
          <a:p>
            <a:pPr marL="0" indent="0">
              <a:buNone/>
            </a:pPr>
            <a:endParaRPr lang="en-IT" dirty="0"/>
          </a:p>
        </p:txBody>
      </p:sp>
      <p:pic>
        <p:nvPicPr>
          <p:cNvPr id="4" name="Picture 2" descr="Frequently Asked Questions: UMM Universitätsmedizin Mannheim">
            <a:extLst>
              <a:ext uri="{FF2B5EF4-FFF2-40B4-BE49-F238E27FC236}">
                <a16:creationId xmlns:a16="http://schemas.microsoft.com/office/drawing/2014/main" id="{CF13143C-4CC1-F57C-A1A4-9D899C5CB14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289"/>
          <a:stretch>
            <a:fillRect/>
          </a:stretch>
        </p:blipFill>
        <p:spPr bwMode="auto">
          <a:xfrm>
            <a:off x="484547" y="3512785"/>
            <a:ext cx="11222905" cy="2664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34453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8" name="Picture 4" descr="Best practices for using Sodium Hydroxide with Illumina sequencing systems">
            <a:extLst>
              <a:ext uri="{FF2B5EF4-FFF2-40B4-BE49-F238E27FC236}">
                <a16:creationId xmlns:a16="http://schemas.microsoft.com/office/drawing/2014/main" id="{EDFE3405-3262-E34A-BA01-5186EBA938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7875" y="0"/>
            <a:ext cx="55546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662B990-75DC-937B-29EA-5F5C0CE982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3000" y="0"/>
            <a:ext cx="2159000" cy="214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9437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90435-0D0B-91FD-6C74-E1A92A5B9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61AD3-2968-4E1A-16E2-6B9F8861E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Indexes/Barcodes </a:t>
            </a:r>
            <a:r>
              <a:rPr lang="en-GB" dirty="0"/>
              <a:t>(</a:t>
            </a:r>
            <a:r>
              <a:rPr lang="en-GB" b="1" dirty="0"/>
              <a:t>i5/i7</a:t>
            </a:r>
            <a:r>
              <a:rPr lang="en-GB" dirty="0"/>
              <a:t>)</a:t>
            </a:r>
            <a:endParaRPr lang="en-I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8E7F41-44FD-721A-4094-3DDFE541CB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6-12 nucleotide unique sequences</a:t>
            </a:r>
          </a:p>
          <a:p>
            <a:r>
              <a:rPr lang="en-GB" dirty="0"/>
              <a:t>Enable sample multiplexing (combine multiple samples)</a:t>
            </a:r>
          </a:p>
          <a:p>
            <a:r>
              <a:rPr lang="en-GB" dirty="0"/>
              <a:t>Dual indexing reduces index hopping</a:t>
            </a:r>
          </a:p>
        </p:txBody>
      </p:sp>
      <p:pic>
        <p:nvPicPr>
          <p:cNvPr id="4" name="Picture 2" descr="Frequently Asked Questions: UMM Universitätsmedizin Mannheim">
            <a:extLst>
              <a:ext uri="{FF2B5EF4-FFF2-40B4-BE49-F238E27FC236}">
                <a16:creationId xmlns:a16="http://schemas.microsoft.com/office/drawing/2014/main" id="{7D108E02-BEC8-7DA2-710E-B4B8DDD7916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289"/>
          <a:stretch>
            <a:fillRect/>
          </a:stretch>
        </p:blipFill>
        <p:spPr bwMode="auto">
          <a:xfrm>
            <a:off x="484547" y="3512785"/>
            <a:ext cx="11222905" cy="2664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7080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6E9DE-4294-7112-25F1-13AEFF5B1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4106D-AD0B-7383-B1C0-4E4BF560C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Sequencing primers (i5 / i7 primer)</a:t>
            </a:r>
            <a:endParaRPr lang="en-I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329EA8-8E1F-E9E1-AB45-C992E8DC51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Initiate sequencing chemistry</a:t>
            </a:r>
          </a:p>
        </p:txBody>
      </p:sp>
      <p:pic>
        <p:nvPicPr>
          <p:cNvPr id="4" name="Picture 2" descr="Frequently Asked Questions: UMM Universitätsmedizin Mannheim">
            <a:extLst>
              <a:ext uri="{FF2B5EF4-FFF2-40B4-BE49-F238E27FC236}">
                <a16:creationId xmlns:a16="http://schemas.microsoft.com/office/drawing/2014/main" id="{8110E67C-BD32-3819-B6CF-520310970C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289"/>
          <a:stretch>
            <a:fillRect/>
          </a:stretch>
        </p:blipFill>
        <p:spPr bwMode="auto">
          <a:xfrm>
            <a:off x="484547" y="2869319"/>
            <a:ext cx="11222905" cy="2664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4310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9C0E6-1910-5F75-D144-22389C833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T" sz="5400" b="1"/>
              <a:t>Multiplexing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40C29F4-453E-174B-AD40-91589F44B7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63089451"/>
              </p:ext>
            </p:extLst>
          </p:nvPr>
        </p:nvGraphicFramePr>
        <p:xfrm>
          <a:off x="838200" y="2228087"/>
          <a:ext cx="105156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422058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D3D0A-3447-7795-9E4D-0E7EB5095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b="1" dirty="0">
                <a:solidFill>
                  <a:schemeClr val="accent5">
                    <a:lumMod val="75000"/>
                  </a:schemeClr>
                </a:solidFill>
              </a:rPr>
              <a:t>Multiplexing</a:t>
            </a:r>
          </a:p>
        </p:txBody>
      </p:sp>
      <p:pic>
        <p:nvPicPr>
          <p:cNvPr id="22530" name="Picture 2" descr="Comparison of the maximum number of single reads per flow cell and run... |  Download Scientific Diagram">
            <a:extLst>
              <a:ext uri="{FF2B5EF4-FFF2-40B4-BE49-F238E27FC236}">
                <a16:creationId xmlns:a16="http://schemas.microsoft.com/office/drawing/2014/main" id="{72EA2BDF-D972-9F2A-2AAB-EF6F4DF4D4D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941"/>
          <a:stretch>
            <a:fillRect/>
          </a:stretch>
        </p:blipFill>
        <p:spPr bwMode="auto">
          <a:xfrm>
            <a:off x="838200" y="2374635"/>
            <a:ext cx="10425746" cy="3253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10C3DBB-34EC-1B03-E115-0F137FB6C3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4234" y="0"/>
            <a:ext cx="1837765" cy="1848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4541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D6EA0-9000-B5FF-8DEF-B705A5863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9CC7E-7BBC-2FD4-8DF8-558AE152B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b="1">
                <a:solidFill>
                  <a:schemeClr val="accent5">
                    <a:lumMod val="75000"/>
                  </a:schemeClr>
                </a:solidFill>
              </a:rPr>
              <a:t>Multiplexing</a:t>
            </a:r>
            <a:endParaRPr lang="en-IT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C33C8-6A8F-E290-E53D-1AC785C55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4000" b="1" dirty="0"/>
              <a:t>Considerations</a:t>
            </a:r>
            <a:r>
              <a:rPr lang="en-GB" sz="4000" dirty="0"/>
              <a:t>: </a:t>
            </a:r>
          </a:p>
          <a:p>
            <a:pPr lvl="1"/>
            <a:r>
              <a:rPr lang="en-GB" sz="3600" dirty="0"/>
              <a:t>  Index compatibility (avoid similar sequences)</a:t>
            </a:r>
          </a:p>
          <a:p>
            <a:pPr lvl="1"/>
            <a:r>
              <a:rPr lang="en-GB" sz="3600" dirty="0"/>
              <a:t>  Balanced GC content</a:t>
            </a:r>
          </a:p>
          <a:p>
            <a:pPr lvl="1"/>
            <a:r>
              <a:rPr lang="en-GB" sz="3600" dirty="0"/>
              <a:t>  Sufficient sequence diversity</a:t>
            </a:r>
          </a:p>
          <a:p>
            <a:pPr lvl="1"/>
            <a:endParaRPr lang="en-GB" dirty="0"/>
          </a:p>
          <a:p>
            <a:pPr marL="0" indent="0">
              <a:buNone/>
            </a:pPr>
            <a:endParaRPr lang="en-IT" dirty="0"/>
          </a:p>
        </p:txBody>
      </p:sp>
    </p:spTree>
    <p:extLst>
      <p:ext uri="{BB962C8B-B14F-4D97-AF65-F5344CB8AC3E}">
        <p14:creationId xmlns:p14="http://schemas.microsoft.com/office/powerpoint/2010/main" val="32301548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9312</TotalTime>
  <Words>935</Words>
  <Application>Microsoft Macintosh PowerPoint</Application>
  <PresentationFormat>Widescreen</PresentationFormat>
  <Paragraphs>135</Paragraphs>
  <Slides>40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5" baseType="lpstr">
      <vt:lpstr>Aptos</vt:lpstr>
      <vt:lpstr>Aptos Display</vt:lpstr>
      <vt:lpstr>Arial</vt:lpstr>
      <vt:lpstr>Calibri</vt:lpstr>
      <vt:lpstr>Office Theme</vt:lpstr>
      <vt:lpstr>Multimodal NGS analysis of gene expression and chromatin state in the olfactory epithelium</vt:lpstr>
      <vt:lpstr>PowerPoint Presentation</vt:lpstr>
      <vt:lpstr>Sample types</vt:lpstr>
      <vt:lpstr>Standards and Challenges</vt:lpstr>
      <vt:lpstr>PowerPoint Presentation</vt:lpstr>
      <vt:lpstr>Extraction Methods</vt:lpstr>
      <vt:lpstr>Extraction methods: Column-based</vt:lpstr>
      <vt:lpstr>Extraction methods: Column-based</vt:lpstr>
      <vt:lpstr>Extraction methods: Magnetic beads</vt:lpstr>
      <vt:lpstr>Extraction methods: Magnetic beads</vt:lpstr>
      <vt:lpstr>Extraction Methods</vt:lpstr>
      <vt:lpstr>PowerPoint Presentation</vt:lpstr>
      <vt:lpstr>PowerPoint Presentation</vt:lpstr>
      <vt:lpstr>Extraction Quality Requirements</vt:lpstr>
      <vt:lpstr>PowerPoint Presentation</vt:lpstr>
      <vt:lpstr>Concentration</vt:lpstr>
      <vt:lpstr>Concentration</vt:lpstr>
      <vt:lpstr>Extraction Quality Requirements</vt:lpstr>
      <vt:lpstr>Which RNA do we need for conventional RNA-Seq?</vt:lpstr>
      <vt:lpstr>1-5% of total RNA</vt:lpstr>
      <vt:lpstr>PowerPoint Presentation</vt:lpstr>
      <vt:lpstr>PowerPoint Presentation</vt:lpstr>
      <vt:lpstr>PowerPoint Presentation</vt:lpstr>
      <vt:lpstr>PowerPoint Presentation</vt:lpstr>
      <vt:lpstr>Degradation and sizes</vt:lpstr>
      <vt:lpstr>Case 1:</vt:lpstr>
      <vt:lpstr>Case 2:</vt:lpstr>
      <vt:lpstr>Case 3:</vt:lpstr>
      <vt:lpstr>PowerPoint Presentation</vt:lpstr>
      <vt:lpstr>Library preparation</vt:lpstr>
      <vt:lpstr>Why Library Prep is THE Critical Step</vt:lpstr>
      <vt:lpstr>Library Architecture: The Universal Design</vt:lpstr>
      <vt:lpstr>Single-indexed / Dual-indexed</vt:lpstr>
      <vt:lpstr>Flow-cell adapters (P5/P7)</vt:lpstr>
      <vt:lpstr>PowerPoint Presentation</vt:lpstr>
      <vt:lpstr>Indexes/Barcodes (i5/i7)</vt:lpstr>
      <vt:lpstr>Sequencing primers (i5 / i7 primer)</vt:lpstr>
      <vt:lpstr>Multiplexing</vt:lpstr>
      <vt:lpstr>Multiplexing</vt:lpstr>
      <vt:lpstr>Multiplexing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Lisa Korneeva</dc:creator>
  <cp:lastModifiedBy>Lisa</cp:lastModifiedBy>
  <cp:revision>29</cp:revision>
  <dcterms:created xsi:type="dcterms:W3CDTF">2025-06-29T12:55:31Z</dcterms:created>
  <dcterms:modified xsi:type="dcterms:W3CDTF">2026-07-13T14:02:45Z</dcterms:modified>
</cp:coreProperties>
</file>